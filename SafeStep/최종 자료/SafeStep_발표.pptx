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notesMasterIdLst>
    <p:notesMasterId r:id="rId2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video" Target="../media/media-15-1.mp4"/><Relationship Id="rId2" Type="http://schemas.microsoft.com/office/2007/relationships/media" Target="../media/media-15-1.mp4"/><Relationship Id="rId3" Type="http://schemas.openxmlformats.org/officeDocument/2006/relationships/image" Target="../media/image-1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14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100584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rgbClr val="F9731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SAFESTEP TEAM PROJECT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640080" y="1463040"/>
            <a:ext cx="8229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SafeStep</a:t>
            </a:r>
            <a:endParaRPr lang="en-US" sz="8000" dirty="0"/>
          </a:p>
        </p:txBody>
      </p:sp>
      <p:sp>
        <p:nvSpPr>
          <p:cNvPr id="5" name="Text 3"/>
          <p:cNvSpPr/>
          <p:nvPr/>
        </p:nvSpPr>
        <p:spPr>
          <a:xfrm>
            <a:off x="640080" y="26974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E5E7E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시각장애인을 위한 AI 보행 안전 비서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640080" y="32461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9CA3A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객체 인식 · 노면 분석 · 도보 내비게이션을 통합한 안드로이드 앱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40080" y="4160520"/>
            <a:ext cx="7863840" cy="0"/>
          </a:xfrm>
          <a:prstGeom prst="line">
            <a:avLst/>
          </a:prstGeom>
          <a:noFill/>
          <a:ln w="12700">
            <a:solidFill>
              <a:srgbClr val="F9731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42976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9731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팀명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640080" y="452628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SafeStep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7040880" y="429768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9731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발표일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7040880" y="452628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2026.05.18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2651760" y="429768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9731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발표자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2651760" y="4526280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최서연 · 박준범 · 유진 · 박찬영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목차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457200" cy="45720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463040"/>
            <a:ext cx="548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9731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01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188720" y="1463040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문제 정의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480560" y="1463040"/>
            <a:ext cx="4297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왜 이 프로젝트를 시작했는가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48640" y="1965960"/>
            <a:ext cx="548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9731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02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188720" y="1965960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시스템 · 데이터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480560" y="1965960"/>
            <a:ext cx="4297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요구 기능, 아키텍처, 학습 데이터셋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48640" y="2468880"/>
            <a:ext cx="548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9731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03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188720" y="2468880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YOLO 모델 학습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480560" y="2468880"/>
            <a:ext cx="4297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객체 탐지 + 노면 세그멘테이션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48640" y="2971800"/>
            <a:ext cx="548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9731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04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188720" y="2971800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서버 · LLM 어시스턴트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4480560" y="2971800"/>
            <a:ext cx="4297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FastAPI + Groq Llama-3.1-8B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48640" y="3474720"/>
            <a:ext cx="548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9731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05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188720" y="3474720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앱 · 시연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4480560" y="3474720"/>
            <a:ext cx="4297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Android 앱 기능과 실제 동작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548640" y="3977640"/>
            <a:ext cx="548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9731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06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1188720" y="3977640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평가 · 향후 과제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4480560" y="3977640"/>
            <a:ext cx="4297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모델 성능 평가와 개선 방향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6400800" y="4800600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 / 19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01. 문제 정의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8229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왜 시각장애인을 위한 AI 보행 비서가 필요한가?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2651760" cy="1371600"/>
          </a:xfrm>
          <a:prstGeom prst="rect">
            <a:avLst/>
          </a:prstGeom>
          <a:solidFill>
            <a:srgbClr val="F9FAF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508760"/>
            <a:ext cx="2651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9731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약 24.7만 명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457200" y="219456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국내 등록 시각장애인 (2024)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291840" y="1371600"/>
            <a:ext cx="2651760" cy="1371600"/>
          </a:xfrm>
          <a:prstGeom prst="rect">
            <a:avLst/>
          </a:prstGeom>
          <a:solidFill>
            <a:srgbClr val="F9FAF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291840" y="1508760"/>
            <a:ext cx="2651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EF44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4.0%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3291840" y="219456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점자블록 적정설치율 (2023)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126480" y="1371600"/>
            <a:ext cx="2651760" cy="1371600"/>
          </a:xfrm>
          <a:prstGeom prst="rect">
            <a:avLst/>
          </a:prstGeom>
          <a:solidFill>
            <a:srgbClr val="F9FAF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126480" y="1508760"/>
            <a:ext cx="2651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59E0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약 1m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6126480" y="219456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흰지팡이 감지 한계 거리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57200" y="30175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기존 보조 수단의 한계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457200" y="3429000"/>
            <a:ext cx="73152" cy="1188720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15" name="Text 13"/>
          <p:cNvSpPr/>
          <p:nvPr/>
        </p:nvSpPr>
        <p:spPr>
          <a:xfrm>
            <a:off x="640080" y="3429000"/>
            <a:ext cx="8229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흰지팡이: </a:t>
            </a:r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전방 1~2m 이내 장애물만 감지, 신호등·차량 접근 인지 불가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안내견: </a:t>
            </a:r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보급률 매우 낮음 · 양성 비용 高 · 일상 관리 부담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기존 앱: </a:t>
            </a:r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단일 기능(내비게이션 또는 객체 감지)만 제공, 통합 솔루션 부재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57200" y="4572000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※ 출처: 보건복지부 2024 등록장애인 통계 · 한국시각장애인연합회 2023 보행 안전실태조사 (전국 7,019개소 점자블록 조사)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6400800" y="4800600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 / 19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02. 요구 기능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8229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시각장애인 보행에 꼭 필요한 4가지 기능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4023360" cy="1508760"/>
          </a:xfrm>
          <a:prstGeom prst="rect">
            <a:avLst/>
          </a:prstGeom>
          <a:solidFill>
            <a:srgbClr val="F9FAF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371600"/>
            <a:ext cx="73152" cy="1508760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5087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🚧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1234440" y="150876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장애물 감지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234440" y="187452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9731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사람 · 차량 · 자전거 · 볼라드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40080" y="2240280"/>
            <a:ext cx="3703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방향(왼/정면/오른) + 거리감 음성 안내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접근 속도 계산 → 위험 객체 우선 경고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663440" y="1371600"/>
            <a:ext cx="4023360" cy="1508760"/>
          </a:xfrm>
          <a:prstGeom prst="rect">
            <a:avLst/>
          </a:prstGeom>
          <a:solidFill>
            <a:srgbClr val="F9FAF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663440" y="1371600"/>
            <a:ext cx="73152" cy="150876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2" name="Text 10"/>
          <p:cNvSpPr/>
          <p:nvPr/>
        </p:nvSpPr>
        <p:spPr>
          <a:xfrm>
            <a:off x="4846320" y="15087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🛣️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5440680" y="150876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노면 인식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5440680" y="187452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0B98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보도 / 차도 / 횡단보도 / 계단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846320" y="2240280"/>
            <a:ext cx="3703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4색 오버레이로 직관적 상태 표시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차도 진입·계단 감지 시 즉시 경고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57200" y="3063240"/>
            <a:ext cx="4023360" cy="1508760"/>
          </a:xfrm>
          <a:prstGeom prst="rect">
            <a:avLst/>
          </a:prstGeom>
          <a:solidFill>
            <a:srgbClr val="F9FAF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57200" y="3063240"/>
            <a:ext cx="73152" cy="150876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18" name="Text 16"/>
          <p:cNvSpPr/>
          <p:nvPr/>
        </p:nvSpPr>
        <p:spPr>
          <a:xfrm>
            <a:off x="640080" y="32004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🚦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1234440" y="320040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신호등 감지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1234440" y="356616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F44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빨강 · 초록 · 깜빡임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40080" y="3931920"/>
            <a:ext cx="3703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OpenCV HSV 색상 분석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색상 변화 시점에 실시간 TTS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663440" y="3063240"/>
            <a:ext cx="4023360" cy="1508760"/>
          </a:xfrm>
          <a:prstGeom prst="rect">
            <a:avLst/>
          </a:prstGeom>
          <a:solidFill>
            <a:srgbClr val="F9FAF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663440" y="3063240"/>
            <a:ext cx="73152" cy="150876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24" name="Text 22"/>
          <p:cNvSpPr/>
          <p:nvPr/>
        </p:nvSpPr>
        <p:spPr>
          <a:xfrm>
            <a:off x="4846320" y="32004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🗺️</a:t>
            </a:r>
            <a:endParaRPr lang="en-US" sz="2800" dirty="0"/>
          </a:p>
        </p:txBody>
      </p:sp>
      <p:sp>
        <p:nvSpPr>
          <p:cNvPr id="25" name="Text 23"/>
          <p:cNvSpPr/>
          <p:nvPr/>
        </p:nvSpPr>
        <p:spPr>
          <a:xfrm>
            <a:off x="5440680" y="320040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도보 내비게이션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5440680" y="356616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B82F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Tmap 기반 턴바이턴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4846320" y="3931920"/>
            <a:ext cx="3703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음성 목적지 입력 → 경로 안내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40m 이탈 시 자동 재탐색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6400800" y="4800600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 / 19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02. 시스템 구성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8229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Android 앱 ↔ ngrok ↔ Python 서버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2651760" cy="3200400"/>
          </a:xfrm>
          <a:prstGeom prst="roundRect">
            <a:avLst>
              <a:gd name="adj" fmla="val 3448"/>
            </a:avLst>
          </a:prstGeom>
          <a:solidFill>
            <a:srgbClr val="141414"/>
          </a:solidFill>
          <a:ln w="25400">
            <a:solidFill>
              <a:srgbClr val="F9731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554480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dirty="0">
                <a:solidFill>
                  <a:srgbClr val="000000"/>
                </a:solidFill>
              </a:rPr>
              <a:t>📱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457200" y="210312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9731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Android 앱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457200" y="246888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CA3A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Kotlin / CameraX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40080" y="2880360"/>
            <a:ext cx="23774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• 카메라 실시간 프레임</a:t>
            </a: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• TextToSpeech 음성 출력</a:t>
            </a: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• 진동 + 음성 명령 입력</a:t>
            </a: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• Tmap 도보 내비 표시</a:t>
            </a: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• osmdroid 지도 렌더링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154680" y="2743200"/>
            <a:ext cx="548640" cy="0"/>
          </a:xfrm>
          <a:prstGeom prst="line">
            <a:avLst/>
          </a:prstGeom>
          <a:noFill/>
          <a:ln w="38100">
            <a:solidFill>
              <a:srgbClr val="F97316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3154680" y="3200400"/>
            <a:ext cx="548640" cy="0"/>
          </a:xfrm>
          <a:prstGeom prst="line">
            <a:avLst/>
          </a:prstGeom>
          <a:noFill/>
          <a:ln w="38100">
            <a:solidFill>
              <a:srgbClr val="F97316"/>
            </a:solidFill>
            <a:prstDash val="solid"/>
            <a:headEnd type="triangle"/>
          </a:ln>
        </p:spPr>
      </p:sp>
      <p:sp>
        <p:nvSpPr>
          <p:cNvPr id="11" name="Text 9"/>
          <p:cNvSpPr/>
          <p:nvPr/>
        </p:nvSpPr>
        <p:spPr>
          <a:xfrm>
            <a:off x="3108960" y="2423160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9731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HTTPS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3108960" y="3383280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ngrok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3794760" y="1371600"/>
            <a:ext cx="3108960" cy="3200400"/>
          </a:xfrm>
          <a:prstGeom prst="roundRect">
            <a:avLst>
              <a:gd name="adj" fmla="val 2941"/>
            </a:avLst>
          </a:prstGeom>
          <a:solidFill>
            <a:srgbClr val="F97316"/>
          </a:solidFill>
          <a:ln/>
        </p:spPr>
      </p:sp>
      <p:sp>
        <p:nvSpPr>
          <p:cNvPr id="14" name="Text 12"/>
          <p:cNvSpPr/>
          <p:nvPr/>
        </p:nvSpPr>
        <p:spPr>
          <a:xfrm>
            <a:off x="3794760" y="1554480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dirty="0">
                <a:solidFill>
                  <a:srgbClr val="000000"/>
                </a:solidFill>
              </a:rPr>
              <a:t>💻</a:t>
            </a:r>
            <a:endParaRPr lang="en-US" sz="3600" dirty="0"/>
          </a:p>
        </p:txBody>
      </p:sp>
      <p:sp>
        <p:nvSpPr>
          <p:cNvPr id="15" name="Text 13"/>
          <p:cNvSpPr/>
          <p:nvPr/>
        </p:nvSpPr>
        <p:spPr>
          <a:xfrm>
            <a:off x="3794760" y="210312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Python 서버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3794760" y="246888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FEF3C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FastAPI + PyTorch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3931920" y="2880360"/>
            <a:ext cx="28346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YOLO 객체 탐지</a:t>
            </a: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surface.pt 노면 세그</a:t>
            </a: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 Depth-Anything-V2 거리</a:t>
            </a: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④ OpenCV HSV 신호등</a:t>
            </a: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⑤ 접근 속도 계산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949440" y="2971800"/>
            <a:ext cx="548640" cy="0"/>
          </a:xfrm>
          <a:prstGeom prst="line">
            <a:avLst/>
          </a:prstGeom>
          <a:noFill/>
          <a:ln w="38100">
            <a:solidFill>
              <a:srgbClr val="F97316"/>
            </a:solidFill>
            <a:prstDash val="solid"/>
            <a:tailEnd type="triangle"/>
          </a:ln>
        </p:spPr>
      </p:sp>
      <p:sp>
        <p:nvSpPr>
          <p:cNvPr id="19" name="Text 17"/>
          <p:cNvSpPr/>
          <p:nvPr/>
        </p:nvSpPr>
        <p:spPr>
          <a:xfrm>
            <a:off x="6903720" y="2697480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9731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결과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7589520" y="1371600"/>
            <a:ext cx="1371600" cy="3200400"/>
          </a:xfrm>
          <a:prstGeom prst="roundRect">
            <a:avLst>
              <a:gd name="adj" fmla="val 6667"/>
            </a:avLst>
          </a:prstGeom>
          <a:solidFill>
            <a:srgbClr val="F9FAF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589520" y="1554480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000000"/>
                </a:solidFill>
              </a:rPr>
              <a:t>🔊</a:t>
            </a:r>
            <a:endParaRPr lang="en-US" sz="3200" dirty="0"/>
          </a:p>
        </p:txBody>
      </p:sp>
      <p:sp>
        <p:nvSpPr>
          <p:cNvPr id="22" name="Text 20"/>
          <p:cNvSpPr/>
          <p:nvPr/>
        </p:nvSpPr>
        <p:spPr>
          <a:xfrm>
            <a:off x="7589520" y="210312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출력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7589520" y="2606040"/>
            <a:ext cx="1371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음성</a:t>
            </a:r>
            <a:endParaRPr lang="en-US" sz="1100" dirty="0"/>
          </a:p>
          <a:p>
            <a:pPr algn="ctr" indent="0" marL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진동</a:t>
            </a:r>
            <a:endParaRPr lang="en-US" sz="1100" dirty="0"/>
          </a:p>
          <a:p>
            <a:pPr algn="ctr" indent="0" marL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화면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7589520" y="3520440"/>
            <a:ext cx="1371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F9731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"1시 방향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i="1" dirty="0">
                <a:solidFill>
                  <a:srgbClr val="F9731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자전거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i="1" dirty="0">
                <a:solidFill>
                  <a:srgbClr val="F9731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접근"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6400800" y="4800600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 / 19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02. 데이터 소개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8229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AIHub 인도보행 데이터셋 — 라벨링 2종 + 외부 도구 3종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280160"/>
            <a:ext cx="4023360" cy="1554480"/>
          </a:xfrm>
          <a:prstGeom prst="rect">
            <a:avLst/>
          </a:prstGeom>
          <a:solidFill>
            <a:srgbClr val="141414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1280160"/>
            <a:ext cx="73152" cy="1554480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3716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9731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객체 탐지용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40080" y="1645920"/>
            <a:ext cx="3749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Bbox / Polygon Segmentation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40080" y="2057400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이동체 13종 + 고정체 16종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Bbox 35만 + Polygon 10만 라벨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640080" y="251460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클래스 수 </a:t>
            </a:r>
            <a:pPr indent="0" marL="0">
              <a:buNone/>
            </a:pPr>
            <a:r>
              <a:rPr lang="en-US" sz="1100" b="1" dirty="0">
                <a:solidFill>
                  <a:srgbClr val="F9731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29종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전체 데이터 </a:t>
            </a:r>
            <a:pPr indent="0" marL="0">
              <a:buNone/>
            </a:pPr>
            <a:r>
              <a:rPr lang="en-US" sz="1100" b="1" dirty="0">
                <a:solidFill>
                  <a:srgbClr val="F9731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45만 장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663440" y="1280160"/>
            <a:ext cx="4023360" cy="1554480"/>
          </a:xfrm>
          <a:prstGeom prst="rect">
            <a:avLst/>
          </a:prstGeom>
          <a:solidFill>
            <a:srgbClr val="141414"/>
          </a:solidFill>
          <a:ln/>
        </p:spPr>
      </p:sp>
      <p:sp>
        <p:nvSpPr>
          <p:cNvPr id="11" name="Shape 9"/>
          <p:cNvSpPr/>
          <p:nvPr/>
        </p:nvSpPr>
        <p:spPr>
          <a:xfrm>
            <a:off x="4663440" y="1280160"/>
            <a:ext cx="73152" cy="155448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2" name="Text 10"/>
          <p:cNvSpPr/>
          <p:nvPr/>
        </p:nvSpPr>
        <p:spPr>
          <a:xfrm>
            <a:off x="4846320" y="13716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0B98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노면 세그멘테이션용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846320" y="1645920"/>
            <a:ext cx="3749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Surface Masking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4846320" y="2057400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보도/차도/횡단보도/계단 등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픽셀 단위 영역 마스킹 라벨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846320" y="251460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클래스 수 </a:t>
            </a:r>
            <a:pPr indent="0" marL="0">
              <a:buNone/>
            </a:pPr>
            <a:r>
              <a:rPr lang="en-US" sz="1100" b="1" dirty="0">
                <a:solidFill>
                  <a:srgbClr val="10B98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20종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전체 데이터 </a:t>
            </a:r>
            <a:pPr indent="0" marL="0">
              <a:buNone/>
            </a:pPr>
            <a:r>
              <a:rPr lang="en-US" sz="1100" b="1" dirty="0">
                <a:solidFill>
                  <a:srgbClr val="10B98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5만 장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57200" y="29260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📂 출처: AIHub — 인도 보행 영상 데이터셋 (aihub.or.kr)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57200" y="3246120"/>
            <a:ext cx="2651760" cy="1371600"/>
          </a:xfrm>
          <a:prstGeom prst="rect">
            <a:avLst/>
          </a:prstGeom>
          <a:solidFill>
            <a:srgbClr val="F9FAF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57200" y="3246120"/>
            <a:ext cx="2651760" cy="45720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19" name="Text 17"/>
          <p:cNvSpPr/>
          <p:nvPr/>
        </p:nvSpPr>
        <p:spPr>
          <a:xfrm>
            <a:off x="594360" y="3310128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Depth-Anything-V2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594360" y="3566160"/>
            <a:ext cx="2468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F9731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거리 추정 (사전학습 모델)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594360" y="3794760"/>
            <a:ext cx="2468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Depth Prediction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데이터셋 분석이 어려워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검증된 모델 활용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594360" y="4416552"/>
            <a:ext cx="2468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github.com/DepthAnything</a:t>
            </a:r>
            <a:endParaRPr lang="en-US" sz="800" dirty="0"/>
          </a:p>
        </p:txBody>
      </p:sp>
      <p:sp>
        <p:nvSpPr>
          <p:cNvPr id="23" name="Shape 21"/>
          <p:cNvSpPr/>
          <p:nvPr/>
        </p:nvSpPr>
        <p:spPr>
          <a:xfrm>
            <a:off x="3246120" y="3246120"/>
            <a:ext cx="2651760" cy="1371600"/>
          </a:xfrm>
          <a:prstGeom prst="rect">
            <a:avLst/>
          </a:prstGeom>
          <a:solidFill>
            <a:srgbClr val="F9FAF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246120" y="3246120"/>
            <a:ext cx="2651760" cy="45720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25" name="Text 23"/>
          <p:cNvSpPr/>
          <p:nvPr/>
        </p:nvSpPr>
        <p:spPr>
          <a:xfrm>
            <a:off x="3383280" y="3310128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Tmap API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3383280" y="3566160"/>
            <a:ext cx="2468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F9731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GPS · 도보 경로 안내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3383280" y="3794760"/>
            <a:ext cx="2468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국내 도보 내비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표준 API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턴바이턴 지원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3383280" y="4416552"/>
            <a:ext cx="2468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tmapapi.tmapmobility.com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6035040" y="3246120"/>
            <a:ext cx="2651760" cy="1371600"/>
          </a:xfrm>
          <a:prstGeom prst="rect">
            <a:avLst/>
          </a:prstGeom>
          <a:solidFill>
            <a:srgbClr val="F9FAF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035040" y="3246120"/>
            <a:ext cx="2651760" cy="45720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31" name="Text 29"/>
          <p:cNvSpPr/>
          <p:nvPr/>
        </p:nvSpPr>
        <p:spPr>
          <a:xfrm>
            <a:off x="6172200" y="3310128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ngrok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6172200" y="3566160"/>
            <a:ext cx="2468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F9731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원격 접속 (HTTPS 터널)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6172200" y="3794760"/>
            <a:ext cx="2468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Wi-Fi 없이도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LTE/5G 환경에서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서버 접근 가능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6172200" y="4416552"/>
            <a:ext cx="2468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ngrok.com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6400800" y="4800600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 / 19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03. YOLO 학습 — 객체 탐지 (1차)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8229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전체 29 클래스로 우선 학습 → 베이스라인 확보 (obstacle_v11n)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1920240" cy="1143000"/>
          </a:xfrm>
          <a:prstGeom prst="rect">
            <a:avLst/>
          </a:prstGeom>
          <a:solidFill>
            <a:srgbClr val="F9FAF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371600"/>
            <a:ext cx="1920240" cy="54864"/>
          </a:xfrm>
          <a:prstGeom prst="rect">
            <a:avLst/>
          </a:prstGeom>
          <a:solidFill>
            <a:srgbClr val="6B7280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508760"/>
            <a:ext cx="1920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0.299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457200" y="2121408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mAP@50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560320" y="1371600"/>
            <a:ext cx="1920240" cy="1143000"/>
          </a:xfrm>
          <a:prstGeom prst="rect">
            <a:avLst/>
          </a:prstGeom>
          <a:solidFill>
            <a:srgbClr val="F9FAF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560320" y="1371600"/>
            <a:ext cx="1920240" cy="54864"/>
          </a:xfrm>
          <a:prstGeom prst="rect">
            <a:avLst/>
          </a:prstGeom>
          <a:solidFill>
            <a:srgbClr val="6B7280"/>
          </a:solidFill>
          <a:ln/>
        </p:spPr>
      </p:sp>
      <p:sp>
        <p:nvSpPr>
          <p:cNvPr id="10" name="Text 8"/>
          <p:cNvSpPr/>
          <p:nvPr/>
        </p:nvSpPr>
        <p:spPr>
          <a:xfrm>
            <a:off x="2560320" y="1508760"/>
            <a:ext cx="1920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0.163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2560320" y="2121408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mAP@50-95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663440" y="1371600"/>
            <a:ext cx="1920240" cy="1143000"/>
          </a:xfrm>
          <a:prstGeom prst="rect">
            <a:avLst/>
          </a:prstGeom>
          <a:solidFill>
            <a:srgbClr val="F9FAF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663440" y="1371600"/>
            <a:ext cx="1920240" cy="54864"/>
          </a:xfrm>
          <a:prstGeom prst="rect">
            <a:avLst/>
          </a:prstGeom>
          <a:solidFill>
            <a:srgbClr val="6B7280"/>
          </a:solidFill>
          <a:ln/>
        </p:spPr>
      </p:sp>
      <p:sp>
        <p:nvSpPr>
          <p:cNvPr id="14" name="Text 12"/>
          <p:cNvSpPr/>
          <p:nvPr/>
        </p:nvSpPr>
        <p:spPr>
          <a:xfrm>
            <a:off x="4663440" y="1508760"/>
            <a:ext cx="1920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0.602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4663440" y="2121408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Precision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766560" y="1371600"/>
            <a:ext cx="1920240" cy="1143000"/>
          </a:xfrm>
          <a:prstGeom prst="rect">
            <a:avLst/>
          </a:prstGeom>
          <a:solidFill>
            <a:srgbClr val="F9FAF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766560" y="1371600"/>
            <a:ext cx="1920240" cy="54864"/>
          </a:xfrm>
          <a:prstGeom prst="rect">
            <a:avLst/>
          </a:prstGeom>
          <a:solidFill>
            <a:srgbClr val="6B7280"/>
          </a:solidFill>
          <a:ln/>
        </p:spPr>
      </p:sp>
      <p:sp>
        <p:nvSpPr>
          <p:cNvPr id="18" name="Text 16"/>
          <p:cNvSpPr/>
          <p:nvPr/>
        </p:nvSpPr>
        <p:spPr>
          <a:xfrm>
            <a:off x="6766560" y="1508760"/>
            <a:ext cx="1920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0.284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6766560" y="2121408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Recall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57200" y="2697480"/>
            <a:ext cx="3931920" cy="1920240"/>
          </a:xfrm>
          <a:prstGeom prst="rect">
            <a:avLst/>
          </a:prstGeom>
          <a:solidFill>
            <a:srgbClr val="141414"/>
          </a:solidFill>
          <a:ln/>
        </p:spPr>
      </p:sp>
      <p:sp>
        <p:nvSpPr>
          <p:cNvPr id="21" name="Shape 19"/>
          <p:cNvSpPr/>
          <p:nvPr/>
        </p:nvSpPr>
        <p:spPr>
          <a:xfrm>
            <a:off x="457200" y="2697480"/>
            <a:ext cx="73152" cy="1920240"/>
          </a:xfrm>
          <a:prstGeom prst="rect">
            <a:avLst/>
          </a:prstGeom>
          <a:solidFill>
            <a:srgbClr val="6B7280"/>
          </a:solidFill>
          <a:ln/>
        </p:spPr>
      </p:sp>
      <p:sp>
        <p:nvSpPr>
          <p:cNvPr id="22" name="Text 20"/>
          <p:cNvSpPr/>
          <p:nvPr/>
        </p:nvSpPr>
        <p:spPr>
          <a:xfrm>
            <a:off x="640080" y="2788920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학습 설정 · 데이터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640080" y="3108960"/>
            <a:ext cx="1554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모델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2194560" y="3108960"/>
            <a:ext cx="2194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YOLO11n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640080" y="3364992"/>
            <a:ext cx="1554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Epoch / Batch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2194560" y="3364992"/>
            <a:ext cx="2194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100 / 16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640080" y="3621024"/>
            <a:ext cx="1554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Image size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2194560" y="3621024"/>
            <a:ext cx="2194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416 × 416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640080" y="3877056"/>
            <a:ext cx="1554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클래스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2194560" y="3877056"/>
            <a:ext cx="2194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29종 (이동체 13 + 고정체 16)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640080" y="4133088"/>
            <a:ext cx="1554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Train / Valid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2194560" y="4133088"/>
            <a:ext cx="2194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17,218 / 4,304 장 (8:2)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640080" y="4389120"/>
            <a:ext cx="1554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프로젝트명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2194560" y="4389120"/>
            <a:ext cx="2194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obstacle_v11n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4663440" y="2697480"/>
            <a:ext cx="4023360" cy="1920240"/>
          </a:xfrm>
          <a:prstGeom prst="rect">
            <a:avLst/>
          </a:prstGeom>
          <a:solidFill>
            <a:srgbClr val="F9FAFB"/>
          </a:solidFill>
          <a:ln w="12700">
            <a:solidFill>
              <a:srgbClr val="E5E7EB"/>
            </a:solidFill>
            <a:prstDash val="solid"/>
          </a:ln>
        </p:spPr>
      </p:sp>
      <p:pic>
        <p:nvPicPr>
          <p:cNvPr id="36" name="Image 0" descr="C:/Users/User/github/새 폴더 (2)/surface_seg2-20260424T093405Z-3-001/surface_seg2/results/training_results/detect/runs/detect/obstacle_v11n/results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709160" y="2743200"/>
            <a:ext cx="3931920" cy="1828800"/>
          </a:xfrm>
          <a:prstGeom prst="rect">
            <a:avLst/>
          </a:prstGeom>
        </p:spPr>
      </p:pic>
      <p:sp>
        <p:nvSpPr>
          <p:cNvPr id="37" name="Text 34"/>
          <p:cNvSpPr/>
          <p:nvPr/>
        </p:nvSpPr>
        <p:spPr>
          <a:xfrm>
            <a:off x="6400800" y="4800600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 / 19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03. YOLO 학습 — 객체 탐지 (최종)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8229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데이터 추가 + 재학습 → 모든 지표 약 2배 개선 → 최종 채택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1920240" cy="1143000"/>
          </a:xfrm>
          <a:prstGeom prst="rect">
            <a:avLst/>
          </a:prstGeom>
          <a:solidFill>
            <a:srgbClr val="F9FAF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371600"/>
            <a:ext cx="1920240" cy="54864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508760"/>
            <a:ext cx="1920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9731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0.655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457200" y="2121408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mAP@50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57200" y="2304288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i="1" dirty="0">
                <a:solidFill>
                  <a:srgbClr val="10B98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↑ x2.2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2560320" y="1371600"/>
            <a:ext cx="1920240" cy="1143000"/>
          </a:xfrm>
          <a:prstGeom prst="rect">
            <a:avLst/>
          </a:prstGeom>
          <a:solidFill>
            <a:srgbClr val="F9FAF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560320" y="1371600"/>
            <a:ext cx="1920240" cy="54864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11" name="Text 9"/>
          <p:cNvSpPr/>
          <p:nvPr/>
        </p:nvSpPr>
        <p:spPr>
          <a:xfrm>
            <a:off x="2560320" y="1508760"/>
            <a:ext cx="1920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9731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0.453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2560320" y="2121408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mAP@50-95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2560320" y="2304288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i="1" dirty="0">
                <a:solidFill>
                  <a:srgbClr val="10B98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↑ x2.8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4663440" y="1371600"/>
            <a:ext cx="1920240" cy="1143000"/>
          </a:xfrm>
          <a:prstGeom prst="rect">
            <a:avLst/>
          </a:prstGeom>
          <a:solidFill>
            <a:srgbClr val="F9FAF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663440" y="1371600"/>
            <a:ext cx="1920240" cy="54864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16" name="Text 14"/>
          <p:cNvSpPr/>
          <p:nvPr/>
        </p:nvSpPr>
        <p:spPr>
          <a:xfrm>
            <a:off x="4663440" y="1508760"/>
            <a:ext cx="1920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9731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0.783</a:t>
            </a:r>
            <a:endParaRPr lang="en-US" sz="2800" dirty="0"/>
          </a:p>
        </p:txBody>
      </p:sp>
      <p:sp>
        <p:nvSpPr>
          <p:cNvPr id="17" name="Text 15"/>
          <p:cNvSpPr/>
          <p:nvPr/>
        </p:nvSpPr>
        <p:spPr>
          <a:xfrm>
            <a:off x="4663440" y="2121408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Precision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663440" y="2304288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i="1" dirty="0">
                <a:solidFill>
                  <a:srgbClr val="10B98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↑ x1.3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6766560" y="1371600"/>
            <a:ext cx="1920240" cy="1143000"/>
          </a:xfrm>
          <a:prstGeom prst="rect">
            <a:avLst/>
          </a:prstGeom>
          <a:solidFill>
            <a:srgbClr val="F9FAF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766560" y="1371600"/>
            <a:ext cx="1920240" cy="54864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21" name="Text 19"/>
          <p:cNvSpPr/>
          <p:nvPr/>
        </p:nvSpPr>
        <p:spPr>
          <a:xfrm>
            <a:off x="6766560" y="1508760"/>
            <a:ext cx="1920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9731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0.581</a:t>
            </a:r>
            <a:endParaRPr lang="en-US" sz="2800" dirty="0"/>
          </a:p>
        </p:txBody>
      </p:sp>
      <p:sp>
        <p:nvSpPr>
          <p:cNvPr id="22" name="Text 20"/>
          <p:cNvSpPr/>
          <p:nvPr/>
        </p:nvSpPr>
        <p:spPr>
          <a:xfrm>
            <a:off x="6766560" y="2121408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Recall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766560" y="2304288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i="1" dirty="0">
                <a:solidFill>
                  <a:srgbClr val="10B98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↑ x2.0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457200" y="2697480"/>
            <a:ext cx="3931920" cy="1920240"/>
          </a:xfrm>
          <a:prstGeom prst="rect">
            <a:avLst/>
          </a:prstGeom>
          <a:solidFill>
            <a:srgbClr val="141414"/>
          </a:solidFill>
          <a:ln/>
        </p:spPr>
      </p:sp>
      <p:sp>
        <p:nvSpPr>
          <p:cNvPr id="25" name="Shape 23"/>
          <p:cNvSpPr/>
          <p:nvPr/>
        </p:nvSpPr>
        <p:spPr>
          <a:xfrm>
            <a:off x="457200" y="2697480"/>
            <a:ext cx="73152" cy="1920240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26" name="Text 24"/>
          <p:cNvSpPr/>
          <p:nvPr/>
        </p:nvSpPr>
        <p:spPr>
          <a:xfrm>
            <a:off x="640080" y="2788920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9731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1차 대비 보강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640080" y="3108960"/>
            <a:ext cx="1554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보강 ①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2194560" y="3108960"/>
            <a:ext cx="2194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학습 데이터 추가 확보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640080" y="3364992"/>
            <a:ext cx="1554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보강 ②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2194560" y="3364992"/>
            <a:ext cx="2194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맨홀·연석 손상 라벨 집중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640080" y="3621024"/>
            <a:ext cx="1554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라벨 수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2194560" y="3621024"/>
            <a:ext cx="2194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manhole 7,544 · curb 53,016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640080" y="3877056"/>
            <a:ext cx="1554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설정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2194560" y="3877056"/>
            <a:ext cx="2194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YOLO11n · 50ep · 640px · b6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640080" y="4133088"/>
            <a:ext cx="1554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Image size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2194560" y="4133088"/>
            <a:ext cx="2194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416 → 640 (해상도 ↑)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640080" y="4389120"/>
            <a:ext cx="1554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프로젝트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2194560" y="4389120"/>
            <a:ext cx="2194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final_manhole_curb_640_clean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4663440" y="2697480"/>
            <a:ext cx="4023360" cy="1920240"/>
          </a:xfrm>
          <a:prstGeom prst="rect">
            <a:avLst/>
          </a:prstGeom>
          <a:solidFill>
            <a:srgbClr val="F9FAFB"/>
          </a:solidFill>
          <a:ln w="12700">
            <a:solidFill>
              <a:srgbClr val="E5E7EB"/>
            </a:solidFill>
            <a:prstDash val="solid"/>
          </a:ln>
        </p:spPr>
      </p:sp>
      <p:pic>
        <p:nvPicPr>
          <p:cNvPr id="40" name="Image 0" descr="C:/Users/User/Downloads/results_obj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709160" y="2743200"/>
            <a:ext cx="3931920" cy="1828800"/>
          </a:xfrm>
          <a:prstGeom prst="rect">
            <a:avLst/>
          </a:prstGeom>
        </p:spPr>
      </p:pic>
      <p:sp>
        <p:nvSpPr>
          <p:cNvPr id="41" name="Shape 38"/>
          <p:cNvSpPr/>
          <p:nvPr/>
        </p:nvSpPr>
        <p:spPr>
          <a:xfrm>
            <a:off x="7040880" y="320040"/>
            <a:ext cx="1554480" cy="411480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42" name="Text 39"/>
          <p:cNvSpPr/>
          <p:nvPr/>
        </p:nvSpPr>
        <p:spPr>
          <a:xfrm>
            <a:off x="7040880" y="320040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⭐ 최종 채택</a:t>
            </a:r>
            <a:endParaRPr lang="en-US" sz="1100" dirty="0"/>
          </a:p>
        </p:txBody>
      </p:sp>
      <p:sp>
        <p:nvSpPr>
          <p:cNvPr id="43" name="Text 40"/>
          <p:cNvSpPr/>
          <p:nvPr/>
        </p:nvSpPr>
        <p:spPr>
          <a:xfrm>
            <a:off x="6400800" y="4800600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8 / 19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03. YOLO 학습 — 노면 (1차)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8229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Bbox 방식으로 우선 학습 → 베이스라인 (surface_yolo11n)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1920240" cy="1143000"/>
          </a:xfrm>
          <a:prstGeom prst="rect">
            <a:avLst/>
          </a:prstGeom>
          <a:solidFill>
            <a:srgbClr val="F9FAF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371600"/>
            <a:ext cx="1920240" cy="54864"/>
          </a:xfrm>
          <a:prstGeom prst="rect">
            <a:avLst/>
          </a:prstGeom>
          <a:solidFill>
            <a:srgbClr val="6B7280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508760"/>
            <a:ext cx="1920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0.463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457200" y="2121408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mAP@50 (box)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560320" y="1371600"/>
            <a:ext cx="1920240" cy="1143000"/>
          </a:xfrm>
          <a:prstGeom prst="rect">
            <a:avLst/>
          </a:prstGeom>
          <a:solidFill>
            <a:srgbClr val="F9FAF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560320" y="1371600"/>
            <a:ext cx="1920240" cy="54864"/>
          </a:xfrm>
          <a:prstGeom prst="rect">
            <a:avLst/>
          </a:prstGeom>
          <a:solidFill>
            <a:srgbClr val="6B7280"/>
          </a:solidFill>
          <a:ln/>
        </p:spPr>
      </p:sp>
      <p:sp>
        <p:nvSpPr>
          <p:cNvPr id="10" name="Text 8"/>
          <p:cNvSpPr/>
          <p:nvPr/>
        </p:nvSpPr>
        <p:spPr>
          <a:xfrm>
            <a:off x="2560320" y="1508760"/>
            <a:ext cx="1920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0.362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2560320" y="2121408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mAP@50-95 (box)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663440" y="1371600"/>
            <a:ext cx="1920240" cy="1143000"/>
          </a:xfrm>
          <a:prstGeom prst="rect">
            <a:avLst/>
          </a:prstGeom>
          <a:solidFill>
            <a:srgbClr val="F9FAF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663440" y="1371600"/>
            <a:ext cx="1920240" cy="54864"/>
          </a:xfrm>
          <a:prstGeom prst="rect">
            <a:avLst/>
          </a:prstGeom>
          <a:solidFill>
            <a:srgbClr val="6B7280"/>
          </a:solidFill>
          <a:ln/>
        </p:spPr>
      </p:sp>
      <p:sp>
        <p:nvSpPr>
          <p:cNvPr id="14" name="Text 12"/>
          <p:cNvSpPr/>
          <p:nvPr/>
        </p:nvSpPr>
        <p:spPr>
          <a:xfrm>
            <a:off x="4663440" y="1508760"/>
            <a:ext cx="1920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0.632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4663440" y="2121408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Precision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766560" y="1371600"/>
            <a:ext cx="1920240" cy="1143000"/>
          </a:xfrm>
          <a:prstGeom prst="rect">
            <a:avLst/>
          </a:prstGeom>
          <a:solidFill>
            <a:srgbClr val="F9FAF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766560" y="1371600"/>
            <a:ext cx="1920240" cy="54864"/>
          </a:xfrm>
          <a:prstGeom prst="rect">
            <a:avLst/>
          </a:prstGeom>
          <a:solidFill>
            <a:srgbClr val="6B7280"/>
          </a:solidFill>
          <a:ln/>
        </p:spPr>
      </p:sp>
      <p:sp>
        <p:nvSpPr>
          <p:cNvPr id="18" name="Text 16"/>
          <p:cNvSpPr/>
          <p:nvPr/>
        </p:nvSpPr>
        <p:spPr>
          <a:xfrm>
            <a:off x="6766560" y="1508760"/>
            <a:ext cx="1920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0.440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6766560" y="2121408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Recall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57200" y="2697480"/>
            <a:ext cx="3931920" cy="1920240"/>
          </a:xfrm>
          <a:prstGeom prst="rect">
            <a:avLst/>
          </a:prstGeom>
          <a:solidFill>
            <a:srgbClr val="141414"/>
          </a:solidFill>
          <a:ln/>
        </p:spPr>
      </p:sp>
      <p:sp>
        <p:nvSpPr>
          <p:cNvPr id="21" name="Shape 19"/>
          <p:cNvSpPr/>
          <p:nvPr/>
        </p:nvSpPr>
        <p:spPr>
          <a:xfrm>
            <a:off x="457200" y="2697480"/>
            <a:ext cx="73152" cy="1920240"/>
          </a:xfrm>
          <a:prstGeom prst="rect">
            <a:avLst/>
          </a:prstGeom>
          <a:solidFill>
            <a:srgbClr val="6B7280"/>
          </a:solidFill>
          <a:ln/>
        </p:spPr>
      </p:sp>
      <p:sp>
        <p:nvSpPr>
          <p:cNvPr id="22" name="Text 20"/>
          <p:cNvSpPr/>
          <p:nvPr/>
        </p:nvSpPr>
        <p:spPr>
          <a:xfrm>
            <a:off x="640080" y="2788920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학습 설정 · 데이터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640080" y="3108960"/>
            <a:ext cx="1554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모델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2194560" y="3108960"/>
            <a:ext cx="2194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YOLO11n (Detection)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640080" y="3364992"/>
            <a:ext cx="1554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Epoch / Batch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2194560" y="3364992"/>
            <a:ext cx="2194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100 / 16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640080" y="3621024"/>
            <a:ext cx="1554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Image size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2194560" y="3621024"/>
            <a:ext cx="2194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416 × 416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640080" y="3877056"/>
            <a:ext cx="1554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클래스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2194560" y="3877056"/>
            <a:ext cx="2194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21종 (보도/차도/위험구역 등)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640080" y="4133088"/>
            <a:ext cx="1554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Train / Valid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2194560" y="4133088"/>
            <a:ext cx="2194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7,644 / 1,911 장 (8:2)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640080" y="4389120"/>
            <a:ext cx="1554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프로젝트명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2194560" y="4389120"/>
            <a:ext cx="2194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surface_yolo11n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4663440" y="2697480"/>
            <a:ext cx="4023360" cy="1920240"/>
          </a:xfrm>
          <a:prstGeom prst="rect">
            <a:avLst/>
          </a:prstGeom>
          <a:solidFill>
            <a:srgbClr val="F9FAFB"/>
          </a:solidFill>
          <a:ln w="12700">
            <a:solidFill>
              <a:srgbClr val="E5E7EB"/>
            </a:solidFill>
            <a:prstDash val="solid"/>
          </a:ln>
        </p:spPr>
      </p:sp>
      <p:pic>
        <p:nvPicPr>
          <p:cNvPr id="36" name="Image 0" descr="C:/Users/User/Downloads/surface_yolo11n/results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709160" y="2743200"/>
            <a:ext cx="3931920" cy="1828800"/>
          </a:xfrm>
          <a:prstGeom prst="rect">
            <a:avLst/>
          </a:prstGeom>
        </p:spPr>
      </p:pic>
      <p:sp>
        <p:nvSpPr>
          <p:cNvPr id="37" name="Text 34"/>
          <p:cNvSpPr/>
          <p:nvPr/>
        </p:nvSpPr>
        <p:spPr>
          <a:xfrm>
            <a:off x="6400800" y="4800600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9 / 19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03. YOLO 학습 — 노면 세그 (최종)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8229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Bbox → Segmentation 전환 + 데이터 추가 → 최종 채택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1920240" cy="1143000"/>
          </a:xfrm>
          <a:prstGeom prst="rect">
            <a:avLst/>
          </a:prstGeom>
          <a:solidFill>
            <a:srgbClr val="F9FAF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371600"/>
            <a:ext cx="1920240" cy="54864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508760"/>
            <a:ext cx="1920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0B98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0.541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457200" y="2121408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mAP@50 (mask)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57200" y="2304288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i="1" dirty="0">
                <a:solidFill>
                  <a:srgbClr val="10B98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↑ x1.17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2560320" y="1371600"/>
            <a:ext cx="1920240" cy="1143000"/>
          </a:xfrm>
          <a:prstGeom prst="rect">
            <a:avLst/>
          </a:prstGeom>
          <a:solidFill>
            <a:srgbClr val="F9FAF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560320" y="1371600"/>
            <a:ext cx="1920240" cy="54864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1" name="Text 9"/>
          <p:cNvSpPr/>
          <p:nvPr/>
        </p:nvSpPr>
        <p:spPr>
          <a:xfrm>
            <a:off x="2560320" y="1508760"/>
            <a:ext cx="1920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0B98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0.426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2560320" y="2121408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mAP@50-95 (mask)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2560320" y="2304288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i="1" dirty="0">
                <a:solidFill>
                  <a:srgbClr val="10B98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↑ x1.18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4663440" y="1371600"/>
            <a:ext cx="1920240" cy="1143000"/>
          </a:xfrm>
          <a:prstGeom prst="rect">
            <a:avLst/>
          </a:prstGeom>
          <a:solidFill>
            <a:srgbClr val="F9FAF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663440" y="1371600"/>
            <a:ext cx="1920240" cy="54864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6" name="Text 14"/>
          <p:cNvSpPr/>
          <p:nvPr/>
        </p:nvSpPr>
        <p:spPr>
          <a:xfrm>
            <a:off x="4663440" y="1508760"/>
            <a:ext cx="1920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0B98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0.612</a:t>
            </a:r>
            <a:endParaRPr lang="en-US" sz="2800" dirty="0"/>
          </a:p>
        </p:txBody>
      </p:sp>
      <p:sp>
        <p:nvSpPr>
          <p:cNvPr id="17" name="Text 15"/>
          <p:cNvSpPr/>
          <p:nvPr/>
        </p:nvSpPr>
        <p:spPr>
          <a:xfrm>
            <a:off x="4663440" y="2121408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Precision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663440" y="2304288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i="1" dirty="0">
                <a:solidFill>
                  <a:srgbClr val="10B98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≈ 동등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6766560" y="1371600"/>
            <a:ext cx="1920240" cy="1143000"/>
          </a:xfrm>
          <a:prstGeom prst="rect">
            <a:avLst/>
          </a:prstGeom>
          <a:solidFill>
            <a:srgbClr val="F9FAF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766560" y="1371600"/>
            <a:ext cx="1920240" cy="54864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21" name="Text 19"/>
          <p:cNvSpPr/>
          <p:nvPr/>
        </p:nvSpPr>
        <p:spPr>
          <a:xfrm>
            <a:off x="6766560" y="1508760"/>
            <a:ext cx="1920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0B98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0.524</a:t>
            </a:r>
            <a:endParaRPr lang="en-US" sz="2800" dirty="0"/>
          </a:p>
        </p:txBody>
      </p:sp>
      <p:sp>
        <p:nvSpPr>
          <p:cNvPr id="22" name="Text 20"/>
          <p:cNvSpPr/>
          <p:nvPr/>
        </p:nvSpPr>
        <p:spPr>
          <a:xfrm>
            <a:off x="6766560" y="2121408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Recall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766560" y="2304288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i="1" dirty="0">
                <a:solidFill>
                  <a:srgbClr val="10B98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↑ x1.19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457200" y="2697480"/>
            <a:ext cx="3931920" cy="1920240"/>
          </a:xfrm>
          <a:prstGeom prst="rect">
            <a:avLst/>
          </a:prstGeom>
          <a:solidFill>
            <a:srgbClr val="141414"/>
          </a:solidFill>
          <a:ln/>
        </p:spPr>
      </p:sp>
      <p:sp>
        <p:nvSpPr>
          <p:cNvPr id="25" name="Shape 23"/>
          <p:cNvSpPr/>
          <p:nvPr/>
        </p:nvSpPr>
        <p:spPr>
          <a:xfrm>
            <a:off x="457200" y="2697480"/>
            <a:ext cx="73152" cy="192024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26" name="Text 24"/>
          <p:cNvSpPr/>
          <p:nvPr/>
        </p:nvSpPr>
        <p:spPr>
          <a:xfrm>
            <a:off x="640080" y="2788920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0B98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1차 대비 보강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640080" y="3108960"/>
            <a:ext cx="1554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보강 ①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2194560" y="3108960"/>
            <a:ext cx="2194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학습 데이터 추가 확보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640080" y="3364992"/>
            <a:ext cx="1554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전환 ②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2194560" y="3364992"/>
            <a:ext cx="2194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Detection → Segmentation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640080" y="3621024"/>
            <a:ext cx="1554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전환 ③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2194560" y="3621024"/>
            <a:ext cx="2194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박스 → 픽셀 단위 마스크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640080" y="3877056"/>
            <a:ext cx="1554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전환 ④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2194560" y="3877056"/>
            <a:ext cx="2194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Image 416 → 640 / AdamW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640080" y="4133088"/>
            <a:ext cx="1554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클래스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2194560" y="4133088"/>
            <a:ext cx="2194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21종 (보도·차도·위험구역)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640080" y="4389120"/>
            <a:ext cx="1554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프로젝트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2194560" y="4389120"/>
            <a:ext cx="2194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surface_seg_v2 (YOLO11n-seg)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4663440" y="2697480"/>
            <a:ext cx="4023360" cy="1920240"/>
          </a:xfrm>
          <a:prstGeom prst="rect">
            <a:avLst/>
          </a:prstGeom>
          <a:solidFill>
            <a:srgbClr val="F9FAFB"/>
          </a:solidFill>
          <a:ln w="12700">
            <a:solidFill>
              <a:srgbClr val="E5E7EB"/>
            </a:solidFill>
            <a:prstDash val="solid"/>
          </a:ln>
        </p:spPr>
      </p:sp>
      <p:pic>
        <p:nvPicPr>
          <p:cNvPr id="40" name="Image 0" descr="C:/Users/User/Downloads/surface_seg-20260424T050252Z-3-001/surface_seg/results/training_results/segment/runs/segment/surface_seg_v11n/results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709160" y="2743200"/>
            <a:ext cx="3931920" cy="1828800"/>
          </a:xfrm>
          <a:prstGeom prst="rect">
            <a:avLst/>
          </a:prstGeom>
        </p:spPr>
      </p:pic>
      <p:sp>
        <p:nvSpPr>
          <p:cNvPr id="41" name="Shape 38"/>
          <p:cNvSpPr/>
          <p:nvPr/>
        </p:nvSpPr>
        <p:spPr>
          <a:xfrm>
            <a:off x="7040880" y="320040"/>
            <a:ext cx="1554480" cy="41148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42" name="Text 39"/>
          <p:cNvSpPr/>
          <p:nvPr/>
        </p:nvSpPr>
        <p:spPr>
          <a:xfrm>
            <a:off x="7040880" y="320040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⭐ 최종 채택</a:t>
            </a:r>
            <a:endParaRPr lang="en-US" sz="1100" dirty="0"/>
          </a:p>
        </p:txBody>
      </p:sp>
      <p:sp>
        <p:nvSpPr>
          <p:cNvPr id="43" name="Text 40"/>
          <p:cNvSpPr/>
          <p:nvPr/>
        </p:nvSpPr>
        <p:spPr>
          <a:xfrm>
            <a:off x="6400800" y="4800600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 / 19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04. 서버 구현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8229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FastAPI + PyTorch — 5개 엔드포인트 · ngrok HTTPS 자동 터널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280160"/>
            <a:ext cx="2468880" cy="3291840"/>
          </a:xfrm>
          <a:prstGeom prst="roundRect">
            <a:avLst>
              <a:gd name="adj" fmla="val 5556"/>
            </a:avLst>
          </a:prstGeom>
          <a:solidFill>
            <a:srgbClr val="141414"/>
          </a:solidFill>
          <a:ln w="25400">
            <a:solidFill>
              <a:srgbClr val="F97316"/>
            </a:solidFill>
            <a:prstDash val="solid"/>
          </a:ln>
        </p:spPr>
      </p:sp>
      <p:pic>
        <p:nvPicPr>
          <p:cNvPr id="5" name="Image 0" descr="C:/Users/User/Downloads/app_splash_real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48640" y="1371600"/>
            <a:ext cx="2286000" cy="310896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3200400" y="1399032"/>
            <a:ext cx="411480" cy="411480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7" name="Text 4"/>
          <p:cNvSpPr/>
          <p:nvPr/>
        </p:nvSpPr>
        <p:spPr>
          <a:xfrm>
            <a:off x="3200400" y="139903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3749040" y="132588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YOLO 객체 탐지 + 신호등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3749040" y="1572768"/>
            <a:ext cx="5029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사람·차·자전거·볼라드 + 신호등(HSV)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신호등은 3중 엄격 조건 (오탐 방지)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3200400" y="2039112"/>
            <a:ext cx="411480" cy="411480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11" name="Text 8"/>
          <p:cNvSpPr/>
          <p:nvPr/>
        </p:nvSpPr>
        <p:spPr>
          <a:xfrm>
            <a:off x="3200400" y="203911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3749040" y="196596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노면 세그멘테이션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3749040" y="2212848"/>
            <a:ext cx="5029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25 클래스 · 좌/중/우 3구역 분석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계단 즉시 플래그 → POST /segment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3200400" y="2679192"/>
            <a:ext cx="411480" cy="411480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15" name="Text 12"/>
          <p:cNvSpPr/>
          <p:nvPr/>
        </p:nvSpPr>
        <p:spPr>
          <a:xfrm>
            <a:off x="3200400" y="267919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en-US" sz="1400" dirty="0"/>
          </a:p>
        </p:txBody>
      </p:sp>
      <p:sp>
        <p:nvSpPr>
          <p:cNvPr id="16" name="Text 13"/>
          <p:cNvSpPr/>
          <p:nvPr/>
        </p:nvSpPr>
        <p:spPr>
          <a:xfrm>
            <a:off x="3749040" y="260604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거리·접근속도 추정</a:t>
            </a:r>
            <a:endParaRPr lang="en-US" sz="1300" dirty="0"/>
          </a:p>
        </p:txBody>
      </p:sp>
      <p:sp>
        <p:nvSpPr>
          <p:cNvPr id="17" name="Text 14"/>
          <p:cNvSpPr/>
          <p:nvPr/>
        </p:nvSpPr>
        <p:spPr>
          <a:xfrm>
            <a:off x="3749040" y="2852928"/>
            <a:ext cx="5029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Depth-Anything-V2 백그라운드 워커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250ms 넘으면 자동 OFF (응답속도 유지)</a:t>
            </a:r>
            <a:endParaRPr lang="en-US" sz="1000" dirty="0"/>
          </a:p>
        </p:txBody>
      </p:sp>
      <p:sp>
        <p:nvSpPr>
          <p:cNvPr id="18" name="Shape 15"/>
          <p:cNvSpPr/>
          <p:nvPr/>
        </p:nvSpPr>
        <p:spPr>
          <a:xfrm>
            <a:off x="3200400" y="3319272"/>
            <a:ext cx="411480" cy="411480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19" name="Text 16"/>
          <p:cNvSpPr/>
          <p:nvPr/>
        </p:nvSpPr>
        <p:spPr>
          <a:xfrm>
            <a:off x="3200400" y="331927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en-US" sz="1400" dirty="0"/>
          </a:p>
        </p:txBody>
      </p:sp>
      <p:sp>
        <p:nvSpPr>
          <p:cNvPr id="20" name="Text 17"/>
          <p:cNvSpPr/>
          <p:nvPr/>
        </p:nvSpPr>
        <p:spPr>
          <a:xfrm>
            <a:off x="3749040" y="324612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성능 최적화</a:t>
            </a:r>
            <a:endParaRPr lang="en-US" sz="1300" dirty="0"/>
          </a:p>
        </p:txBody>
      </p:sp>
      <p:sp>
        <p:nvSpPr>
          <p:cNvPr id="21" name="Text 18"/>
          <p:cNvSpPr/>
          <p:nvPr/>
        </p:nvSpPr>
        <p:spPr>
          <a:xfrm>
            <a:off x="3749040" y="3493008"/>
            <a:ext cx="5029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MD5 프레임 캐싱 (2초) · 프레임 스킵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LatencyTracker로 RTT/FPS 모니터링</a:t>
            </a:r>
            <a:endParaRPr lang="en-US" sz="1000" dirty="0"/>
          </a:p>
        </p:txBody>
      </p:sp>
      <p:sp>
        <p:nvSpPr>
          <p:cNvPr id="22" name="Shape 19"/>
          <p:cNvSpPr/>
          <p:nvPr/>
        </p:nvSpPr>
        <p:spPr>
          <a:xfrm>
            <a:off x="3200400" y="3959352"/>
            <a:ext cx="411480" cy="411480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23" name="Text 20"/>
          <p:cNvSpPr/>
          <p:nvPr/>
        </p:nvSpPr>
        <p:spPr>
          <a:xfrm>
            <a:off x="3200400" y="395935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</a:t>
            </a:r>
            <a:endParaRPr lang="en-US" sz="1400" dirty="0"/>
          </a:p>
        </p:txBody>
      </p:sp>
      <p:sp>
        <p:nvSpPr>
          <p:cNvPr id="24" name="Text 21"/>
          <p:cNvSpPr/>
          <p:nvPr/>
        </p:nvSpPr>
        <p:spPr>
          <a:xfrm>
            <a:off x="3749040" y="388620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LLM 음성 어시스턴트</a:t>
            </a:r>
            <a:endParaRPr lang="en-US" sz="1300" dirty="0"/>
          </a:p>
        </p:txBody>
      </p:sp>
      <p:sp>
        <p:nvSpPr>
          <p:cNvPr id="25" name="Text 22"/>
          <p:cNvSpPr/>
          <p:nvPr/>
        </p:nvSpPr>
        <p:spPr>
          <a:xfrm>
            <a:off x="3749040" y="4133088"/>
            <a:ext cx="5029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Groq + Llama-3.1-8B (OpenAI 호환 API)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→ POST /assistant (다음 슬라이드)</a:t>
            </a:r>
            <a:endParaRPr lang="en-US" sz="1000" dirty="0"/>
          </a:p>
        </p:txBody>
      </p:sp>
      <p:sp>
        <p:nvSpPr>
          <p:cNvPr id="26" name="Text 23"/>
          <p:cNvSpPr/>
          <p:nvPr/>
        </p:nvSpPr>
        <p:spPr>
          <a:xfrm>
            <a:off x="6400800" y="4800600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11 / 19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04. LLM 음성 어시스턴트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8229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화면 1.5초 길게 누르면 활성화 · Groq Llama-3.1-8B (OpenAI 호환) · 한국어 STT/TTS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280160"/>
            <a:ext cx="2468880" cy="3291840"/>
          </a:xfrm>
          <a:prstGeom prst="roundRect">
            <a:avLst>
              <a:gd name="adj" fmla="val 5556"/>
            </a:avLst>
          </a:prstGeom>
          <a:solidFill>
            <a:srgbClr val="141414"/>
          </a:solidFill>
          <a:ln w="25400">
            <a:solidFill>
              <a:srgbClr val="F97316"/>
            </a:solidFill>
            <a:prstDash val="solid"/>
          </a:ln>
        </p:spPr>
      </p:sp>
      <p:pic>
        <p:nvPicPr>
          <p:cNvPr id="5" name="Image 0" descr="C:/Users/User/Downloads/app_splash_real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48640" y="1371600"/>
            <a:ext cx="2286000" cy="310896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3200400" y="1399032"/>
            <a:ext cx="411480" cy="411480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7" name="Text 4"/>
          <p:cNvSpPr/>
          <p:nvPr/>
        </p:nvSpPr>
        <p:spPr>
          <a:xfrm>
            <a:off x="3200400" y="139903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3749040" y="132588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내비게이션 음성 제어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3749040" y="1572768"/>
            <a:ext cx="5029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"강남역 가줘" → Tmap 검색·경로 시작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"내비 그만" / "다시 길 찾아줘"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3200400" y="2048256"/>
            <a:ext cx="411480" cy="411480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11" name="Text 8"/>
          <p:cNvSpPr/>
          <p:nvPr/>
        </p:nvSpPr>
        <p:spPr>
          <a:xfrm>
            <a:off x="3200400" y="2048256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3749040" y="1975104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주변 객체 질의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3749040" y="2221992"/>
            <a:ext cx="5029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"주변에 뭐 있어?"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→ 카메라 YOLO 결과 음성으로 요약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3200400" y="2697480"/>
            <a:ext cx="411480" cy="411480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15" name="Text 12"/>
          <p:cNvSpPr/>
          <p:nvPr/>
        </p:nvSpPr>
        <p:spPr>
          <a:xfrm>
            <a:off x="3200400" y="269748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en-US" sz="1400" dirty="0"/>
          </a:p>
        </p:txBody>
      </p:sp>
      <p:sp>
        <p:nvSpPr>
          <p:cNvPr id="16" name="Text 13"/>
          <p:cNvSpPr/>
          <p:nvPr/>
        </p:nvSpPr>
        <p:spPr>
          <a:xfrm>
            <a:off x="3749040" y="2624328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경로 진행 정보</a:t>
            </a:r>
            <a:endParaRPr lang="en-US" sz="1300" dirty="0"/>
          </a:p>
        </p:txBody>
      </p:sp>
      <p:sp>
        <p:nvSpPr>
          <p:cNvPr id="17" name="Text 14"/>
          <p:cNvSpPr/>
          <p:nvPr/>
        </p:nvSpPr>
        <p:spPr>
          <a:xfrm>
            <a:off x="3749040" y="2871216"/>
            <a:ext cx="5029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"얼마나 남았어?" / "지금 어디야?"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→ 잔여 거리·시간·GPS 좌표</a:t>
            </a:r>
            <a:endParaRPr lang="en-US" sz="1000" dirty="0"/>
          </a:p>
        </p:txBody>
      </p:sp>
      <p:sp>
        <p:nvSpPr>
          <p:cNvPr id="18" name="Shape 15"/>
          <p:cNvSpPr/>
          <p:nvPr/>
        </p:nvSpPr>
        <p:spPr>
          <a:xfrm>
            <a:off x="3200400" y="3346704"/>
            <a:ext cx="411480" cy="411480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19" name="Text 16"/>
          <p:cNvSpPr/>
          <p:nvPr/>
        </p:nvSpPr>
        <p:spPr>
          <a:xfrm>
            <a:off x="3200400" y="3346704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en-US" sz="1400" dirty="0"/>
          </a:p>
        </p:txBody>
      </p:sp>
      <p:sp>
        <p:nvSpPr>
          <p:cNvPr id="20" name="Text 17"/>
          <p:cNvSpPr/>
          <p:nvPr/>
        </p:nvSpPr>
        <p:spPr>
          <a:xfrm>
            <a:off x="3749040" y="3273552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POI 검색 (Tmap)</a:t>
            </a:r>
            <a:endParaRPr lang="en-US" sz="1300" dirty="0"/>
          </a:p>
        </p:txBody>
      </p:sp>
      <p:sp>
        <p:nvSpPr>
          <p:cNvPr id="21" name="Text 18"/>
          <p:cNvSpPr/>
          <p:nvPr/>
        </p:nvSpPr>
        <p:spPr>
          <a:xfrm>
            <a:off x="3749040" y="3520440"/>
            <a:ext cx="5029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"근처 화장실 찾아줘"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→ Tmap POI → 가장 가까운 곳 안내</a:t>
            </a:r>
            <a:endParaRPr lang="en-US" sz="1000" dirty="0"/>
          </a:p>
        </p:txBody>
      </p:sp>
      <p:sp>
        <p:nvSpPr>
          <p:cNvPr id="22" name="Shape 19"/>
          <p:cNvSpPr/>
          <p:nvPr/>
        </p:nvSpPr>
        <p:spPr>
          <a:xfrm>
            <a:off x="3200400" y="3995928"/>
            <a:ext cx="411480" cy="411480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23" name="Text 20"/>
          <p:cNvSpPr/>
          <p:nvPr/>
        </p:nvSpPr>
        <p:spPr>
          <a:xfrm>
            <a:off x="3200400" y="3995928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</a:t>
            </a:r>
            <a:endParaRPr lang="en-US" sz="1400" dirty="0"/>
          </a:p>
        </p:txBody>
      </p:sp>
      <p:sp>
        <p:nvSpPr>
          <p:cNvPr id="24" name="Text 21"/>
          <p:cNvSpPr/>
          <p:nvPr/>
        </p:nvSpPr>
        <p:spPr>
          <a:xfrm>
            <a:off x="3749040" y="3922776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Function Calling + 컨텍스트</a:t>
            </a:r>
            <a:endParaRPr lang="en-US" sz="1300" dirty="0"/>
          </a:p>
        </p:txBody>
      </p:sp>
      <p:sp>
        <p:nvSpPr>
          <p:cNvPr id="25" name="Text 22"/>
          <p:cNvSpPr/>
          <p:nvPr/>
        </p:nvSpPr>
        <p:spPr>
          <a:xfrm>
            <a:off x="3749040" y="4169664"/>
            <a:ext cx="5029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LLM이 화면·위치·탐지 객체 고려해 도구 선택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설정에서 사용자 토글 ON/OFF 가능</a:t>
            </a:r>
            <a:endParaRPr lang="en-US" sz="1000" dirty="0"/>
          </a:p>
        </p:txBody>
      </p:sp>
      <p:sp>
        <p:nvSpPr>
          <p:cNvPr id="26" name="Text 23"/>
          <p:cNvSpPr/>
          <p:nvPr/>
        </p:nvSpPr>
        <p:spPr>
          <a:xfrm>
            <a:off x="6400800" y="4800600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12 / 19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05. 앱 소개 — 보행 안전 기능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8229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객체 · 노면 · 신호등 실시간 경고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280160"/>
            <a:ext cx="2468880" cy="3291840"/>
          </a:xfrm>
          <a:prstGeom prst="roundRect">
            <a:avLst>
              <a:gd name="adj" fmla="val 5556"/>
            </a:avLst>
          </a:prstGeom>
          <a:solidFill>
            <a:srgbClr val="141414"/>
          </a:solidFill>
          <a:ln w="25400">
            <a:solidFill>
              <a:srgbClr val="F97316"/>
            </a:solidFill>
            <a:prstDash val="solid"/>
          </a:ln>
        </p:spPr>
      </p:sp>
      <p:pic>
        <p:nvPicPr>
          <p:cNvPr id="5" name="Image 0" descr="C:/Users/User/Downloads/app_detection_real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48640" y="1371600"/>
            <a:ext cx="2286000" cy="310896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3200400" y="1417320"/>
            <a:ext cx="457200" cy="457200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7" name="Text 4"/>
          <p:cNvSpPr/>
          <p:nvPr/>
        </p:nvSpPr>
        <p:spPr>
          <a:xfrm>
            <a:off x="3200400" y="14173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3794760" y="132588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방향별 음성 안내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3794760" y="1618488"/>
            <a:ext cx="5029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왼쪽/정면/오른쪽 + 거리감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("매우 가까이" / "접근 중")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3200400" y="2221992"/>
            <a:ext cx="457200" cy="457200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11" name="Text 8"/>
          <p:cNvSpPr/>
          <p:nvPr/>
        </p:nvSpPr>
        <p:spPr>
          <a:xfrm>
            <a:off x="3200400" y="222199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3794760" y="2130552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방향별 진동 패턴</a:t>
            </a:r>
            <a:endParaRPr lang="en-US" sz="1500" dirty="0"/>
          </a:p>
        </p:txBody>
      </p:sp>
      <p:sp>
        <p:nvSpPr>
          <p:cNvPr id="13" name="Text 10"/>
          <p:cNvSpPr/>
          <p:nvPr/>
        </p:nvSpPr>
        <p:spPr>
          <a:xfrm>
            <a:off x="3794760" y="2423160"/>
            <a:ext cx="5029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왼쪽 짧짧긴 · 정면 긴짧긴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오른쪽 긴짧짧으로 차별화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3200400" y="3026664"/>
            <a:ext cx="457200" cy="457200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15" name="Text 12"/>
          <p:cNvSpPr/>
          <p:nvPr/>
        </p:nvSpPr>
        <p:spPr>
          <a:xfrm>
            <a:off x="3200400" y="302666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3794760" y="2935224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노면 색상 오버레이</a:t>
            </a:r>
            <a:endParaRPr lang="en-US" sz="1500" dirty="0"/>
          </a:p>
        </p:txBody>
      </p:sp>
      <p:sp>
        <p:nvSpPr>
          <p:cNvPr id="17" name="Text 14"/>
          <p:cNvSpPr/>
          <p:nvPr/>
        </p:nvSpPr>
        <p:spPr>
          <a:xfrm>
            <a:off x="3794760" y="3227832"/>
            <a:ext cx="5029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초록(보도) · 빨강(차도)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주황(위험) · 노랑(횡단보도)</a:t>
            </a:r>
            <a:endParaRPr lang="en-US" sz="1100" dirty="0"/>
          </a:p>
        </p:txBody>
      </p:sp>
      <p:sp>
        <p:nvSpPr>
          <p:cNvPr id="18" name="Shape 15"/>
          <p:cNvSpPr/>
          <p:nvPr/>
        </p:nvSpPr>
        <p:spPr>
          <a:xfrm>
            <a:off x="3200400" y="3831336"/>
            <a:ext cx="457200" cy="457200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19" name="Text 16"/>
          <p:cNvSpPr/>
          <p:nvPr/>
        </p:nvSpPr>
        <p:spPr>
          <a:xfrm>
            <a:off x="3200400" y="383133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en-US" sz="1600" dirty="0"/>
          </a:p>
        </p:txBody>
      </p:sp>
      <p:sp>
        <p:nvSpPr>
          <p:cNvPr id="20" name="Text 17"/>
          <p:cNvSpPr/>
          <p:nvPr/>
        </p:nvSpPr>
        <p:spPr>
          <a:xfrm>
            <a:off x="3794760" y="3739896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차도·계단·신호등 즉시 경고</a:t>
            </a:r>
            <a:endParaRPr lang="en-US" sz="1500" dirty="0"/>
          </a:p>
        </p:txBody>
      </p:sp>
      <p:sp>
        <p:nvSpPr>
          <p:cNvPr id="21" name="Text 18"/>
          <p:cNvSpPr/>
          <p:nvPr/>
        </p:nvSpPr>
        <p:spPr>
          <a:xfrm>
            <a:off x="3794760" y="4032504"/>
            <a:ext cx="5029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차도 진입 시 보도 이동 안내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계단 최우선 TTS · 신호등 색상 변화 경고</a:t>
            </a:r>
            <a:endParaRPr lang="en-US" sz="1100" dirty="0"/>
          </a:p>
        </p:txBody>
      </p:sp>
      <p:sp>
        <p:nvSpPr>
          <p:cNvPr id="22" name="Text 19"/>
          <p:cNvSpPr/>
          <p:nvPr/>
        </p:nvSpPr>
        <p:spPr>
          <a:xfrm>
            <a:off x="6400800" y="4800600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13 / 19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05. 앱 소개 — 내비게이션 · 인터랙션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8229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Tmap 도보 내비 + 음성 명령 + 접근성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280160"/>
            <a:ext cx="2468880" cy="3291840"/>
          </a:xfrm>
          <a:prstGeom prst="roundRect">
            <a:avLst>
              <a:gd name="adj" fmla="val 5556"/>
            </a:avLst>
          </a:prstGeom>
          <a:solidFill>
            <a:srgbClr val="141414"/>
          </a:solidFill>
          <a:ln w="25400">
            <a:solidFill>
              <a:srgbClr val="F97316"/>
            </a:solidFill>
            <a:prstDash val="solid"/>
          </a:ln>
        </p:spPr>
      </p:sp>
      <p:pic>
        <p:nvPicPr>
          <p:cNvPr id="5" name="Image 0" descr="C:/Users/User/Downloads/app_nav_real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48640" y="1371600"/>
            <a:ext cx="2286000" cy="310896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3200400" y="1399032"/>
            <a:ext cx="411480" cy="411480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7" name="Text 4"/>
          <p:cNvSpPr/>
          <p:nvPr/>
        </p:nvSpPr>
        <p:spPr>
          <a:xfrm>
            <a:off x="3200400" y="139903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3749040" y="132588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음성 목적지 입력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3749040" y="1572768"/>
            <a:ext cx="5029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마이크 버튼 → STT → Tmap POI 검색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3200400" y="2048256"/>
            <a:ext cx="411480" cy="411480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11" name="Text 8"/>
          <p:cNvSpPr/>
          <p:nvPr/>
        </p:nvSpPr>
        <p:spPr>
          <a:xfrm>
            <a:off x="3200400" y="2048256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3749040" y="1975104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턴바이턴 + Heading-up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3749040" y="2221992"/>
            <a:ext cx="5029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방향 전환·잔여거리·나침반 회전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3200400" y="2697480"/>
            <a:ext cx="411480" cy="411480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15" name="Text 12"/>
          <p:cNvSpPr/>
          <p:nvPr/>
        </p:nvSpPr>
        <p:spPr>
          <a:xfrm>
            <a:off x="3200400" y="269748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en-US" sz="1400" dirty="0"/>
          </a:p>
        </p:txBody>
      </p:sp>
      <p:sp>
        <p:nvSpPr>
          <p:cNvPr id="16" name="Text 13"/>
          <p:cNvSpPr/>
          <p:nvPr/>
        </p:nvSpPr>
        <p:spPr>
          <a:xfrm>
            <a:off x="3749040" y="2624328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경로 이탈 자동 재탐색</a:t>
            </a:r>
            <a:endParaRPr lang="en-US" sz="1300" dirty="0"/>
          </a:p>
        </p:txBody>
      </p:sp>
      <p:sp>
        <p:nvSpPr>
          <p:cNvPr id="17" name="Text 14"/>
          <p:cNvSpPr/>
          <p:nvPr/>
        </p:nvSpPr>
        <p:spPr>
          <a:xfrm>
            <a:off x="3749040" y="2871216"/>
            <a:ext cx="5029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40m 이상 벗어나면 새 경로 자동 계산</a:t>
            </a:r>
            <a:endParaRPr lang="en-US" sz="1000" dirty="0"/>
          </a:p>
        </p:txBody>
      </p:sp>
      <p:sp>
        <p:nvSpPr>
          <p:cNvPr id="18" name="Shape 15"/>
          <p:cNvSpPr/>
          <p:nvPr/>
        </p:nvSpPr>
        <p:spPr>
          <a:xfrm>
            <a:off x="3200400" y="3346704"/>
            <a:ext cx="411480" cy="411480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19" name="Text 16"/>
          <p:cNvSpPr/>
          <p:nvPr/>
        </p:nvSpPr>
        <p:spPr>
          <a:xfrm>
            <a:off x="3200400" y="3346704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en-US" sz="1400" dirty="0"/>
          </a:p>
        </p:txBody>
      </p:sp>
      <p:sp>
        <p:nvSpPr>
          <p:cNvPr id="20" name="Text 17"/>
          <p:cNvSpPr/>
          <p:nvPr/>
        </p:nvSpPr>
        <p:spPr>
          <a:xfrm>
            <a:off x="3749040" y="3273552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음성 명령 (자연어)</a:t>
            </a:r>
            <a:endParaRPr lang="en-US" sz="1300" dirty="0"/>
          </a:p>
        </p:txBody>
      </p:sp>
      <p:sp>
        <p:nvSpPr>
          <p:cNvPr id="21" name="Text 18"/>
          <p:cNvSpPr/>
          <p:nvPr/>
        </p:nvSpPr>
        <p:spPr>
          <a:xfrm>
            <a:off x="3749040" y="3520440"/>
            <a:ext cx="5029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"주변 알려줘" / "근처 화장실 찾아줘" 등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LLM 어시스턴트로 통합 처리</a:t>
            </a:r>
            <a:endParaRPr lang="en-US" sz="1000" dirty="0"/>
          </a:p>
        </p:txBody>
      </p:sp>
      <p:sp>
        <p:nvSpPr>
          <p:cNvPr id="22" name="Shape 19"/>
          <p:cNvSpPr/>
          <p:nvPr/>
        </p:nvSpPr>
        <p:spPr>
          <a:xfrm>
            <a:off x="3200400" y="3995928"/>
            <a:ext cx="411480" cy="411480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23" name="Text 20"/>
          <p:cNvSpPr/>
          <p:nvPr/>
        </p:nvSpPr>
        <p:spPr>
          <a:xfrm>
            <a:off x="3200400" y="3995928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</a:t>
            </a:r>
            <a:endParaRPr lang="en-US" sz="1400" dirty="0"/>
          </a:p>
        </p:txBody>
      </p:sp>
      <p:sp>
        <p:nvSpPr>
          <p:cNvPr id="24" name="Text 21"/>
          <p:cNvSpPr/>
          <p:nvPr/>
        </p:nvSpPr>
        <p:spPr>
          <a:xfrm>
            <a:off x="3749040" y="3922776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사용자 설정 + 실험 기능</a:t>
            </a:r>
            <a:endParaRPr lang="en-US" sz="1300" dirty="0"/>
          </a:p>
        </p:txBody>
      </p:sp>
      <p:sp>
        <p:nvSpPr>
          <p:cNvPr id="25" name="Text 22"/>
          <p:cNvSpPr/>
          <p:nvPr/>
        </p:nvSpPr>
        <p:spPr>
          <a:xfrm>
            <a:off x="3749040" y="4169664"/>
            <a:ext cx="5029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TTS 속도·민감도·쿨다운·내비 거리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+ LLM·신호등 ON/OFF 토글</a:t>
            </a:r>
            <a:endParaRPr lang="en-US" sz="1000" dirty="0"/>
          </a:p>
        </p:txBody>
      </p:sp>
      <p:sp>
        <p:nvSpPr>
          <p:cNvPr id="26" name="Text 23"/>
          <p:cNvSpPr/>
          <p:nvPr/>
        </p:nvSpPr>
        <p:spPr>
          <a:xfrm>
            <a:off x="6400800" y="4800600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14 / 19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05. 시연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8229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5가지 시나리오로 실제 보행 환경에서 SafeStep 테스트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417320"/>
            <a:ext cx="502920" cy="502920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4173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097280" y="1371600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사람 많은 거리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097280" y="1645920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다중 객체 동시 감지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57200" y="2057400"/>
            <a:ext cx="502920" cy="502920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9" name="Text 7"/>
          <p:cNvSpPr/>
          <p:nvPr/>
        </p:nvSpPr>
        <p:spPr>
          <a:xfrm>
            <a:off x="457200" y="20574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1097280" y="2011680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차+사람 골목길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1097280" y="2286000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복합 환경 · 접근속도 계산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57200" y="2697480"/>
            <a:ext cx="502920" cy="502920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13" name="Text 11"/>
          <p:cNvSpPr/>
          <p:nvPr/>
        </p:nvSpPr>
        <p:spPr>
          <a:xfrm>
            <a:off x="457200" y="26974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1097280" y="2651760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신호등 + 횡단보도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1097280" y="2926080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HSV 색상 감지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57200" y="3337560"/>
            <a:ext cx="502920" cy="502920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17" name="Text 15"/>
          <p:cNvSpPr/>
          <p:nvPr/>
        </p:nvSpPr>
        <p:spPr>
          <a:xfrm>
            <a:off x="457200" y="33375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1097280" y="3291840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차도 진입 반응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1097280" y="3566160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노면 인식 + 즉시 경고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57200" y="3977640"/>
            <a:ext cx="502920" cy="502920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21" name="Text 19"/>
          <p:cNvSpPr/>
          <p:nvPr/>
        </p:nvSpPr>
        <p:spPr>
          <a:xfrm>
            <a:off x="457200" y="39776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1097280" y="3931920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계단·맨홀 (주의구역)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1097280" y="4206240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고정 위험물 · 최우선 TTS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5029200" y="1371600"/>
            <a:ext cx="3657600" cy="3291840"/>
          </a:xfrm>
          <a:prstGeom prst="roundRect">
            <a:avLst>
              <a:gd name="adj" fmla="val 2778"/>
            </a:avLst>
          </a:prstGeom>
          <a:solidFill>
            <a:srgbClr val="141414"/>
          </a:solidFill>
          <a:ln w="25400">
            <a:solidFill>
              <a:srgbClr val="F97316"/>
            </a:solidFill>
            <a:prstDash val="solid"/>
          </a:ln>
        </p:spPr>
      </p:sp>
      <p:pic>
        <p:nvPicPr>
          <p:cNvPr id="3" name="Media 0">
            <a:hlinkClick r:id="" action="ppaction://media"/>
          </p:cNvPr>
          <p:cNvPicPr>
            <a:picLocks noChangeAspect="1"/>
          </p:cNvPicPr>
          <p:nvPr>
            <a:videoFile r:link="rId1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3"/>
          <a:stretch>
            <a:fillRect/>
          </a:stretch>
        </p:blipFill>
        <p:spPr>
          <a:xfrm>
            <a:off x="5120640" y="1463040"/>
            <a:ext cx="3474720" cy="3108960"/>
          </a:xfrm>
          <a:prstGeom prst="rect">
            <a:avLst/>
          </a:prstGeom>
        </p:spPr>
      </p:pic>
      <p:sp>
        <p:nvSpPr>
          <p:cNvPr id="26" name="Text 23"/>
          <p:cNvSpPr/>
          <p:nvPr/>
        </p:nvSpPr>
        <p:spPr>
          <a:xfrm>
            <a:off x="6400800" y="4800600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15 / 19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06. 평가 — 모델 성능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8229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실시간 운영 성능 + 혼동 행렬 분석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280160"/>
            <a:ext cx="1920240" cy="1005840"/>
          </a:xfrm>
          <a:prstGeom prst="rect">
            <a:avLst/>
          </a:prstGeom>
          <a:solidFill>
            <a:srgbClr val="F9FAF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280160"/>
            <a:ext cx="1920240" cy="45720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353312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9731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~550 ms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457200" y="1764792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End-to-end 지연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57200" y="2011680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촬영 → TTS 발화 (RTT 평균)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2560320" y="1280160"/>
            <a:ext cx="1920240" cy="1005840"/>
          </a:xfrm>
          <a:prstGeom prst="rect">
            <a:avLst/>
          </a:prstGeom>
          <a:solidFill>
            <a:srgbClr val="F9FAF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560320" y="1280160"/>
            <a:ext cx="1920240" cy="45720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11" name="Text 9"/>
          <p:cNvSpPr/>
          <p:nvPr/>
        </p:nvSpPr>
        <p:spPr>
          <a:xfrm>
            <a:off x="2560320" y="1353312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9731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~30 ms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2560320" y="1764792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서버 처리 시간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2560320" y="2011680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/detect 추론 (proc_ms)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4663440" y="1280160"/>
            <a:ext cx="1920240" cy="1005840"/>
          </a:xfrm>
          <a:prstGeom prst="rect">
            <a:avLst/>
          </a:prstGeom>
          <a:solidFill>
            <a:srgbClr val="F9FAF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663440" y="1280160"/>
            <a:ext cx="1920240" cy="4572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6" name="Text 14"/>
          <p:cNvSpPr/>
          <p:nvPr/>
        </p:nvSpPr>
        <p:spPr>
          <a:xfrm>
            <a:off x="4663440" y="1353312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0B98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~5.3 FPS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4663440" y="1764792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추론 속도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663440" y="2011680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FAST+DET+SEG 합산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6766560" y="1280160"/>
            <a:ext cx="1920240" cy="1005840"/>
          </a:xfrm>
          <a:prstGeom prst="rect">
            <a:avLst/>
          </a:prstGeom>
          <a:solidFill>
            <a:srgbClr val="F9FAF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766560" y="1280160"/>
            <a:ext cx="1920240" cy="4572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1" name="Text 19"/>
          <p:cNvSpPr/>
          <p:nvPr/>
        </p:nvSpPr>
        <p:spPr>
          <a:xfrm>
            <a:off x="6766560" y="1353312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59E0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8 % / 10분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6766560" y="1764792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배터리 소모율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766560" y="2011680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실측 (카메라+GPS+서버 통신)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457200" y="2423160"/>
            <a:ext cx="4114800" cy="2240280"/>
          </a:xfrm>
          <a:prstGeom prst="rect">
            <a:avLst/>
          </a:prstGeom>
          <a:solidFill>
            <a:srgbClr val="F9FAF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57200" y="246888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9731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객체 탐지 — Confusion Matrix</a:t>
            </a:r>
            <a:endParaRPr lang="en-US" sz="1200" dirty="0"/>
          </a:p>
        </p:txBody>
      </p:sp>
      <p:pic>
        <p:nvPicPr>
          <p:cNvPr id="26" name="Image 0" descr="C:/Users/User/Downloads/confusion_matrix_obj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48640" y="2788920"/>
            <a:ext cx="3931920" cy="1828800"/>
          </a:xfrm>
          <a:prstGeom prst="rect">
            <a:avLst/>
          </a:prstGeom>
        </p:spPr>
      </p:pic>
      <p:sp>
        <p:nvSpPr>
          <p:cNvPr id="27" name="Shape 24"/>
          <p:cNvSpPr/>
          <p:nvPr/>
        </p:nvSpPr>
        <p:spPr>
          <a:xfrm>
            <a:off x="4663440" y="2423160"/>
            <a:ext cx="4023360" cy="2240280"/>
          </a:xfrm>
          <a:prstGeom prst="rect">
            <a:avLst/>
          </a:prstGeom>
          <a:solidFill>
            <a:srgbClr val="F9FAF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4663440" y="246888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0B98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노면 세그 — Confusion Matrix</a:t>
            </a:r>
            <a:endParaRPr lang="en-US" sz="1200" dirty="0"/>
          </a:p>
        </p:txBody>
      </p:sp>
      <p:pic>
        <p:nvPicPr>
          <p:cNvPr id="29" name="Image 1" descr="C:/Users/User/Downloads/surface_seg-20260424T050252Z-3-001/surface_seg/results/training_results/segment/runs/segment/surface_seg_v11n/confusion_matrix_normaliz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4754880" y="2788920"/>
            <a:ext cx="3840480" cy="1828800"/>
          </a:xfrm>
          <a:prstGeom prst="rect">
            <a:avLst/>
          </a:prstGeom>
        </p:spPr>
      </p:pic>
      <p:sp>
        <p:nvSpPr>
          <p:cNvPr id="30" name="Text 26"/>
          <p:cNvSpPr/>
          <p:nvPr/>
        </p:nvSpPr>
        <p:spPr>
          <a:xfrm>
            <a:off x="6400800" y="4800600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16 / 19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06. 평가 — 시연 시나리오별 분석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8229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앞 슬라이드 영상에서 5가지 시나리오 각각의 성능 측정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8229600" cy="411480"/>
          </a:xfrm>
          <a:prstGeom prst="rect">
            <a:avLst/>
          </a:prstGeom>
          <a:solidFill>
            <a:srgbClr val="141414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37160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#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960120" y="137160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시나리오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3246120" y="1371600"/>
            <a:ext cx="4526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코멘트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7818120" y="1371600"/>
            <a:ext cx="868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등급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48640" y="1874520"/>
            <a:ext cx="365760" cy="365760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10" name="Text 8"/>
          <p:cNvSpPr/>
          <p:nvPr/>
        </p:nvSpPr>
        <p:spPr>
          <a:xfrm>
            <a:off x="548640" y="18745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960120" y="1783080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사람 많은 거리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246120" y="1783080"/>
            <a:ext cx="4526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대부분 인식 양호, 앉거나 숙인 자세는 놓치는 경우 있음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7818120" y="1783080"/>
            <a:ext cx="868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9731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B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457200" y="2286000"/>
            <a:ext cx="8229600" cy="502920"/>
          </a:xfrm>
          <a:prstGeom prst="rect">
            <a:avLst/>
          </a:prstGeom>
          <a:solidFill>
            <a:srgbClr val="F9FAFB"/>
          </a:solidFill>
          <a:ln/>
        </p:spPr>
      </p:sp>
      <p:sp>
        <p:nvSpPr>
          <p:cNvPr id="15" name="Shape 13"/>
          <p:cNvSpPr/>
          <p:nvPr/>
        </p:nvSpPr>
        <p:spPr>
          <a:xfrm>
            <a:off x="548640" y="2377440"/>
            <a:ext cx="365760" cy="365760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16" name="Text 14"/>
          <p:cNvSpPr/>
          <p:nvPr/>
        </p:nvSpPr>
        <p:spPr>
          <a:xfrm>
            <a:off x="548640" y="23774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960120" y="2286000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차+사람 골목길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3246120" y="2286000"/>
            <a:ext cx="4526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차량·사람 동시 처리, 정지된 차량도 회피 안내 정확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7818120" y="2286000"/>
            <a:ext cx="868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9731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548640" y="2880360"/>
            <a:ext cx="365760" cy="365760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21" name="Text 19"/>
          <p:cNvSpPr/>
          <p:nvPr/>
        </p:nvSpPr>
        <p:spPr>
          <a:xfrm>
            <a:off x="548640" y="28803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960120" y="2788920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신호등 + 횡단보도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3246120" y="2788920"/>
            <a:ext cx="4526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신호 있는 곳은 정상 작동, 신호 없는 곳에서도 오탐 발생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7818120" y="2788920"/>
            <a:ext cx="868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9731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457200" y="3291840"/>
            <a:ext cx="8229600" cy="502920"/>
          </a:xfrm>
          <a:prstGeom prst="rect">
            <a:avLst/>
          </a:prstGeom>
          <a:solidFill>
            <a:srgbClr val="F9FAFB"/>
          </a:solidFill>
          <a:ln/>
        </p:spPr>
      </p:sp>
      <p:sp>
        <p:nvSpPr>
          <p:cNvPr id="26" name="Shape 24"/>
          <p:cNvSpPr/>
          <p:nvPr/>
        </p:nvSpPr>
        <p:spPr>
          <a:xfrm>
            <a:off x="548640" y="3383280"/>
            <a:ext cx="365760" cy="365760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27" name="Text 25"/>
          <p:cNvSpPr/>
          <p:nvPr/>
        </p:nvSpPr>
        <p:spPr>
          <a:xfrm>
            <a:off x="548640" y="33832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960120" y="3291840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차도 진입 반응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3246120" y="3291840"/>
            <a:ext cx="4526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차도를 골목길로 오인식 → 진입 경고 안내 누락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7818120" y="3291840"/>
            <a:ext cx="868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9731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548640" y="3886200"/>
            <a:ext cx="365760" cy="365760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32" name="Text 30"/>
          <p:cNvSpPr/>
          <p:nvPr/>
        </p:nvSpPr>
        <p:spPr>
          <a:xfrm>
            <a:off x="548640" y="38862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960120" y="3794760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계단·맨홀 (주의구역)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3246120" y="3794760"/>
            <a:ext cx="4526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계단·맨홀 모두 대부분 정상 인식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7818120" y="3794760"/>
            <a:ext cx="868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9731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</a:t>
            </a:r>
            <a:endParaRPr lang="en-US" sz="1600" dirty="0"/>
          </a:p>
        </p:txBody>
      </p:sp>
      <p:sp>
        <p:nvSpPr>
          <p:cNvPr id="36" name="Shape 34"/>
          <p:cNvSpPr/>
          <p:nvPr/>
        </p:nvSpPr>
        <p:spPr>
          <a:xfrm>
            <a:off x="457200" y="4434840"/>
            <a:ext cx="8229600" cy="502920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37" name="Text 35"/>
          <p:cNvSpPr/>
          <p:nvPr/>
        </p:nvSpPr>
        <p:spPr>
          <a:xfrm>
            <a:off x="640080" y="4434840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종합</a:t>
            </a:r>
            <a:endParaRPr lang="en-US" sz="1400" dirty="0"/>
          </a:p>
        </p:txBody>
      </p:sp>
      <p:sp>
        <p:nvSpPr>
          <p:cNvPr id="38" name="Text 36"/>
          <p:cNvSpPr/>
          <p:nvPr/>
        </p:nvSpPr>
        <p:spPr>
          <a:xfrm>
            <a:off x="2286000" y="4434840"/>
            <a:ext cx="5486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i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일반 보행·차량·노면 인식은 안정적, 신호등 오탐과 차도 분류가 향후 과제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7863840" y="4434840"/>
            <a:ext cx="822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B</a:t>
            </a:r>
            <a:endParaRPr lang="en-US" sz="1800" dirty="0"/>
          </a:p>
        </p:txBody>
      </p:sp>
      <p:sp>
        <p:nvSpPr>
          <p:cNvPr id="40" name="Text 38"/>
          <p:cNvSpPr/>
          <p:nvPr/>
        </p:nvSpPr>
        <p:spPr>
          <a:xfrm>
            <a:off x="6400800" y="4800600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17 / 19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06. 한계 및 향후 과제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3931920" cy="3383280"/>
          </a:xfrm>
          <a:prstGeom prst="rect">
            <a:avLst/>
          </a:prstGeom>
          <a:solidFill>
            <a:srgbClr val="F9FAF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128016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F44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⚠ 현재 한계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40080" y="1691640"/>
            <a:ext cx="365760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서버 의존 구조</a:t>
            </a:r>
            <a:endParaRPr lang="en-US" sz="1300" dirty="0"/>
          </a:p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 네트워크 끊기면 객체 탐지 불가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네트워크 지연 (RTT)</a:t>
            </a:r>
            <a:endParaRPr lang="en-US" sz="1300" dirty="0"/>
          </a:p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 LTE/Wi-Fi 환경에 따라 응답 시간 편차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Recall 0.58 — 미탐지 가능성</a:t>
            </a:r>
            <a:endParaRPr lang="en-US" sz="1300" dirty="0"/>
          </a:p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 안전 관련 앱이라 더 높여야 함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신호등 인식률 낮음 (기본 OFF)</a:t>
            </a:r>
            <a:endParaRPr lang="en-US" sz="1300" dirty="0"/>
          </a:p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 yolov8n COCO 한국 신호등 미학습</a:t>
            </a:r>
            <a:endParaRPr lang="en-US" sz="1300" dirty="0"/>
          </a:p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 → 사용자 설정 토글로 선택적 활성화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663440" y="1188720"/>
            <a:ext cx="4023360" cy="3383280"/>
          </a:xfrm>
          <a:prstGeom prst="rect">
            <a:avLst/>
          </a:prstGeom>
          <a:solidFill>
            <a:srgbClr val="141414"/>
          </a:solidFill>
          <a:ln/>
        </p:spPr>
      </p:sp>
      <p:sp>
        <p:nvSpPr>
          <p:cNvPr id="7" name="Shape 5"/>
          <p:cNvSpPr/>
          <p:nvPr/>
        </p:nvSpPr>
        <p:spPr>
          <a:xfrm>
            <a:off x="4663440" y="1188720"/>
            <a:ext cx="73152" cy="3383280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8" name="Text 6"/>
          <p:cNvSpPr/>
          <p:nvPr/>
        </p:nvSpPr>
        <p:spPr>
          <a:xfrm>
            <a:off x="4846320" y="128016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9731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→ 향후 과제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846320" y="1691640"/>
            <a:ext cx="365760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온디바이스화</a:t>
            </a:r>
            <a:endParaRPr lang="en-US" sz="1300" dirty="0"/>
          </a:p>
          <a:p>
            <a:pPr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 TFLite/PyTorch Mobile로 서버 의존 제거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한국 신호등 데이터 추가 학습</a:t>
            </a:r>
            <a:endParaRPr lang="en-US" sz="1300" dirty="0"/>
          </a:p>
          <a:p>
            <a:pPr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 수직형 신호등·화살표 신호 대응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더 큰 모델 시험</a:t>
            </a:r>
            <a:endParaRPr lang="en-US" sz="1300" dirty="0"/>
          </a:p>
          <a:p>
            <a:pPr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 YOLO11s/m으로 Recall 향상 검증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사용자 피드백 반영</a:t>
            </a:r>
            <a:endParaRPr lang="en-US" sz="1300" dirty="0"/>
          </a:p>
          <a:p>
            <a:pPr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 실제 시각장애인 대상 사용성 테스트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400800" y="4800600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18 / 19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1414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1554480"/>
            <a:ext cx="8229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Q &amp; A</a:t>
            </a:r>
            <a:endParaRPr lang="en-US" sz="10000" dirty="0"/>
          </a:p>
        </p:txBody>
      </p:sp>
      <p:sp>
        <p:nvSpPr>
          <p:cNvPr id="4" name="Text 2"/>
          <p:cNvSpPr/>
          <p:nvPr/>
        </p:nvSpPr>
        <p:spPr>
          <a:xfrm>
            <a:off x="640080" y="29260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F9731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질문해 주세요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640080" y="42062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9CA3A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감사합니다.</a:t>
            </a:r>
            <a:endParaRPr lang="en-US" sz="16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참고자료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8229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발표 중 사용된 기준·정책 요약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4114800" cy="3291840"/>
          </a:xfrm>
          <a:prstGeom prst="rect">
            <a:avLst/>
          </a:prstGeom>
          <a:solidFill>
            <a:srgbClr val="F9FAF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371600"/>
            <a:ext cx="73152" cy="3291840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46304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9731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📊 시연 평가 등급 기준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85800" y="1947672"/>
            <a:ext cx="365760" cy="36576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8" name="Text 6"/>
          <p:cNvSpPr/>
          <p:nvPr/>
        </p:nvSpPr>
        <p:spPr>
          <a:xfrm>
            <a:off x="685800" y="194767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143000" y="1874520"/>
            <a:ext cx="1280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정확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2468880" y="187452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의도된 안내가 정확히 발화됨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685800" y="2450592"/>
            <a:ext cx="365760" cy="36576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2" name="Text 10"/>
          <p:cNvSpPr/>
          <p:nvPr/>
        </p:nvSpPr>
        <p:spPr>
          <a:xfrm>
            <a:off x="685800" y="245059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B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143000" y="2377440"/>
            <a:ext cx="1280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양호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2468880" y="237744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작동은 하나 일부 미흡 (지연·놓침)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85800" y="2953512"/>
            <a:ext cx="365760" cy="3657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6" name="Text 14"/>
          <p:cNvSpPr/>
          <p:nvPr/>
        </p:nvSpPr>
        <p:spPr>
          <a:xfrm>
            <a:off x="685800" y="295351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143000" y="2880360"/>
            <a:ext cx="1280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보통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468880" y="288036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절반 정도만 인식, 개선 여지 있음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685800" y="3456432"/>
            <a:ext cx="365760" cy="36576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20" name="Text 18"/>
          <p:cNvSpPr/>
          <p:nvPr/>
        </p:nvSpPr>
        <p:spPr>
          <a:xfrm>
            <a:off x="685800" y="345643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1143000" y="3383280"/>
            <a:ext cx="1280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미흡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2468880" y="338328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거의 작동 안 함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663440" y="1371600"/>
            <a:ext cx="4023360" cy="3291840"/>
          </a:xfrm>
          <a:prstGeom prst="rect">
            <a:avLst/>
          </a:prstGeom>
          <a:solidFill>
            <a:srgbClr val="141414"/>
          </a:solidFill>
          <a:ln/>
        </p:spPr>
      </p:sp>
      <p:sp>
        <p:nvSpPr>
          <p:cNvPr id="24" name="Shape 22"/>
          <p:cNvSpPr/>
          <p:nvPr/>
        </p:nvSpPr>
        <p:spPr>
          <a:xfrm>
            <a:off x="4663440" y="1371600"/>
            <a:ext cx="73152" cy="3291840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25" name="Text 23"/>
          <p:cNvSpPr/>
          <p:nvPr/>
        </p:nvSpPr>
        <p:spPr>
          <a:xfrm>
            <a:off x="4846320" y="146304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9731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🛠 사용 기술 · 모델 · 데이터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4846320" y="1874520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객체 탐지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6263640" y="1874520"/>
            <a:ext cx="2331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YOLO11n (50ep · 640px)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4846320" y="2212848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노면 세그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6263640" y="2212848"/>
            <a:ext cx="2331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YOLO11n-seg (50ep · 640px)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4846320" y="2551176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거리 추정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6263640" y="2551176"/>
            <a:ext cx="2331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Depth-Anything-V2-Metric-Small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4846320" y="2889504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신호등 (선택)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6263640" y="2889504"/>
            <a:ext cx="2331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yolov8n COCO + OpenCV HSV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4846320" y="3227832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음성 어시스턴트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6263640" y="3227832"/>
            <a:ext cx="2331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Groq Llama-3.1-8B (OpenAI 호환)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4846320" y="3566160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내비게이션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6263640" y="3566160"/>
            <a:ext cx="2331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Tmap API (도보 경로)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4846320" y="3904488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외부 접속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6263640" y="3904488"/>
            <a:ext cx="2331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ngrok HTTPS 터널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4846320" y="4242816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데이터셋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6263640" y="4242816"/>
            <a:ext cx="2331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AI Hub 인도보행 영상 (29+21 클래스)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457200" y="47548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📌 신호등 기능은 한국 신호등 미학습으로 기본 OFF · 사용자 설정에서 활성화 가능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SafeStep</dc:title>
  <dc:subject>PptxGenJS Presentation</dc:subject>
  <dc:creator>VisionGuide Team</dc:creator>
  <cp:lastModifiedBy>VisionGuide Team</cp:lastModifiedBy>
  <cp:revision>1</cp:revision>
  <dcterms:created xsi:type="dcterms:W3CDTF">2026-05-15T01:40:45Z</dcterms:created>
  <dcterms:modified xsi:type="dcterms:W3CDTF">2026-05-15T01:40:46Z</dcterms:modified>
</cp:coreProperties>
</file>
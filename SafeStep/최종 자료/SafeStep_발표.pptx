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SAFESTEP TEAM PROJECT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SafeStep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5E7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시각장애인을 위한 AI 보행 안전 비서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 인식 · 노면 분석 · 도보 내비게이션을 통합한 안드로이드 앱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127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팀명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SafeStep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0" y="4297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04088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2026.05.18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51760" y="4297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발표자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51760" y="45262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최서연 · 박준범 · 유진 · 박찬영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1463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480560" y="1463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프로젝트를 시작했는가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8720" y="1965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· 데이터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80560" y="19659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 기능, 아키텍처, 학습 데이터셋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468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 모델 학습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80560" y="24688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 탐지 + 노면 세그멘테이션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29718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· LLM 어시스턴트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80560" y="29718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+ LangChain Gemini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4747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88720" y="34747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· 시연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80560" y="34747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Android 앱 기능과 실제 동작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9776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88720" y="39776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· 향후 과제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480560" y="39776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성능 평가와 개선 방향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문제 정의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시각장애인을 위한 AI 보행 비서가 필요한가?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3716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087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24.7만 명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등록 시각장애인 (2024)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371600"/>
            <a:ext cx="2651760" cy="13716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15087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F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29184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점자블록 적정설치율 (2023)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371600"/>
            <a:ext cx="2651760" cy="13716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5087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1m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2648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흰지팡이 감지 한계 거리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보조 수단의 한계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73152" cy="1188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290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흰지팡이: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전방 1~2m 이내 장애물만 감지, 신호등·차량 접근 인지 불가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안내견: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보급률 매우 낮음 · 양성 비용 高 · 일상 관리 부담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앱: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기능(내비게이션 또는 객체 감지)만 제공, 통합 솔루션 부재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출처: 보건복지부 2024 등록장애인 통계 · 한국시각장애인연합회 2023 보행 안전실태조사 (전국 7,019개소 점자블록 조사)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요구 기능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시각장애인 보행에 꼭 필요한 4가지 기능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50876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15087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🚧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34440" y="1508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장애물 감지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874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· 차량 · 자전거 · 볼라드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방향(왼/정면/오른) + 거리감 음성 안내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접근 속도 계산 → 위험 객체 우선 경고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023360" cy="150876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371600"/>
            <a:ext cx="73152" cy="1508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🛣️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440680" y="1508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노면 인식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40680" y="1874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보도 / 차도 / 횡단보도 / 계단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224028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4색 오버레이로 직관적 상태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차도 진입·계단 감지 시 즉시 경고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4023360" cy="150876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063240"/>
            <a:ext cx="73152" cy="1508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🚦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234440" y="3200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신호등 감지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 · 초록 · 깜빡임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OpenCV HSV 색상 분석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 변화 시점에 실시간 TTS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3063240"/>
            <a:ext cx="4023360" cy="150876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3063240"/>
            <a:ext cx="73152" cy="1508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🗺️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5440680" y="3200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도보 내비게이션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4068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Tmap 기반 턴바이턴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393192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목적지 입력 → 경로 안내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40m 이탈 시 자동 재탐색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시스템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Android 앱 ↔ ngrok ↔ Python 서버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141414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54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📱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Android 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Kotlin / CameraX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카메라 실시간 프레임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TextToSpeech 음성 출력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진동 + 음성 명령 입력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Tmap 도보 내비 표시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osmdroid 지도 렌더링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2743200"/>
            <a:ext cx="54864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154680" y="3200400"/>
            <a:ext cx="54864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  <a:headEnd type="triangle"/>
          </a:ln>
        </p:spPr>
      </p:sp>
      <p:sp>
        <p:nvSpPr>
          <p:cNvPr id="11" name="Text 9"/>
          <p:cNvSpPr/>
          <p:nvPr/>
        </p:nvSpPr>
        <p:spPr>
          <a:xfrm>
            <a:off x="3108960" y="24231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3383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ngrok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94760" y="1371600"/>
            <a:ext cx="3108960" cy="3200400"/>
          </a:xfrm>
          <a:prstGeom prst="roundRect">
            <a:avLst>
              <a:gd name="adj" fmla="val 2941"/>
            </a:avLst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3794760" y="1554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💻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79476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 서버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94760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EF3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+ PyTorch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31920" y="28803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YOLO 객체 탐지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surface.pt 노면 세그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Depth-Anything-V2 거리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OpenCV HSV 신호등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접근 속도 계산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49440" y="2971800"/>
            <a:ext cx="54864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903720" y="26974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589520" y="1371600"/>
            <a:ext cx="1371600" cy="3200400"/>
          </a:xfrm>
          <a:prstGeom prst="roundRect">
            <a:avLst>
              <a:gd name="adj" fmla="val 666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0" y="1554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🔊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758952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89520" y="26060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진동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35204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"1시 방향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접근"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데이터 소개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AIHub 인도보행 데이터셋 — 라벨링 2종 + 외부 도구 3종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5544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80160"/>
            <a:ext cx="73152" cy="15544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 탐지용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Bbox / Polygon Segmentation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이동체 13종 + 고정체 16종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Bbox 35만 + Polygon 10만 라벨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수 </a:t>
            </a:r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데이터 </a:t>
            </a:r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45만 장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15544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1280160"/>
            <a:ext cx="73152" cy="15544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노면 세그멘테이션용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Surface Masking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2057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보도/차도/횡단보도/계단 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픽셀 단위 영역 마스킹 라벨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4632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수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데이터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5만 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📂 출처: AIHub — 인도 보행 영상 데이터셋 (aihub.or.kr)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2651760" cy="13716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46120"/>
            <a:ext cx="265176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310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Depth-Anything-V2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94360" y="35661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 추정 (사전학습 모델)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794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Depth Prediction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데이터셋 분석이 어려워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검증된 모델 활용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4360" y="44165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github.com/DepthAnything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46120" y="3246120"/>
            <a:ext cx="2651760" cy="13716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46120" y="3246120"/>
            <a:ext cx="265176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3310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Tmap API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383280" y="35661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GPS · 도보 경로 안내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83280" y="3794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도보 내비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API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턴바이턴 지원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83280" y="44165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tmapapi.tmapmobility.com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35040" y="3246120"/>
            <a:ext cx="2651760" cy="13716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5040" y="3246120"/>
            <a:ext cx="265176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3310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ngrok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35661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접속 (HTTPS 터널)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72200" y="3794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Wi-Fi 없이도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LTE/5G 환경에서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접근 가능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72200" y="44165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ngrok.com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YOLO 학습 — 객체 탐지 (1차)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29 클래스로 우선 학습 → 베이스라인 확보 (obstacle_v11n)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192024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0.299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mAP@50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1371600"/>
            <a:ext cx="192024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0.163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mAP@50-95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371600"/>
            <a:ext cx="192024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0.602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66344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0" y="1371600"/>
            <a:ext cx="192024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0.284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76656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697480"/>
            <a:ext cx="3931920" cy="192024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2697480"/>
            <a:ext cx="73152" cy="19202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788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설정 · 데이터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1089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194560" y="31089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33649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Epoch / Batch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94560" y="33649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/ 16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362102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Image size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194560" y="36210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416 × 416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387705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94560" y="387705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29종 (이동체 13 + 고정체 16)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413308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 / Valid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194560" y="4133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17,218 / 4,304 장 (8:2)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43891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194560" y="43891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obstacle_v11n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2697480"/>
            <a:ext cx="4023360" cy="19202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6" name="Image 0" descr="C:/Users/User/github/새 폴더 (2)/surface_seg2-20260424T093405Z-3-001/surface_seg2/results/training_results/detect/runs/detect/obstacle_v11n/resul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09160" y="2743200"/>
            <a:ext cx="3931920" cy="1828800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YOLO 학습 — 객체 탐지 (최종)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추가 + 재학습 → 모든 지표 약 2배 개선 → 최종 채택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192024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mAP@50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042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x2.2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1371600"/>
            <a:ext cx="192024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0.453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56032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mAP@50-95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60320" y="23042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x2.8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371600"/>
            <a:ext cx="192024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0.783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6344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63440" y="23042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x1.3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1371600"/>
            <a:ext cx="192024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0.581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76656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23042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x2.0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697480"/>
            <a:ext cx="3931920" cy="192024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2697480"/>
            <a:ext cx="73152" cy="19202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2788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대비 보강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31089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보강 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194560" y="31089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데이터 추가 확보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33649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보강 ②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94560" y="33649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맨홀·연석 손상 라벨 집중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362102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194560" y="36210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manhole 7,544 · curb 53,016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387705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194560" y="387705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 · 50ep · 640px · b6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0080" y="413308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Image size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94560" y="4133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416 → 640 (해상도 ↑)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3891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194560" y="43891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final_manhole_curb_640_clean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2697480"/>
            <a:ext cx="4023360" cy="19202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0" name="Image 0" descr="C:/Users/User/Downloads/results_obj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09160" y="2743200"/>
            <a:ext cx="3931920" cy="1828800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7040880" y="320040"/>
            <a:ext cx="1554480" cy="4114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2" name="Text 39"/>
          <p:cNvSpPr/>
          <p:nvPr/>
        </p:nvSpPr>
        <p:spPr>
          <a:xfrm>
            <a:off x="7040880" y="3200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⭐ 최종 채택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YOLO 학습 — 노면 (1차)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Bbox 방식으로 우선 학습 → 베이스라인 (surface_yolo11n)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192024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0.463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mAP@50 (box)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1371600"/>
            <a:ext cx="192024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0.362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mAP@50-95 (box)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371600"/>
            <a:ext cx="192024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66344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0" y="1371600"/>
            <a:ext cx="192024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0.440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76656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697480"/>
            <a:ext cx="3931920" cy="192024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2697480"/>
            <a:ext cx="73152" cy="19202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788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설정 · 데이터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1089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194560" y="31089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 (Detection)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33649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Epoch / Batch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94560" y="33649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/ 16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362102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Image size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194560" y="36210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416 × 416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387705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94560" y="387705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 (보도/차도/위험구역 등)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413308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 / Valid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194560" y="4133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7,644 / 1,911 장 (8:2)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43891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194560" y="43891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surface_yolo11n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2697480"/>
            <a:ext cx="4023360" cy="19202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4663440" y="3108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🛣️ 학습 곡선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663440" y="3520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results.png 자동 삽입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YOLO 학습 — 노면 세그 (최종)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Bbox → Segmentation 전환 + 데이터 추가 → 최종 채택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0.541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mAP@50 (mask)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042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x1.17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137160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0.426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56032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mAP@50-95 (mask)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60320" y="23042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x1.18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37160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0.612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6344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63440" y="23042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≈ 동등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20240" cy="11430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137160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0.524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76656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23042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x1.19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697480"/>
            <a:ext cx="3931920" cy="192024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2697480"/>
            <a:ext cx="73152" cy="19202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2788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대비 보강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31089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보강 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194560" y="31089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데이터 추가 확보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33649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②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94560" y="33649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Detection → Segmentation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362102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③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194560" y="36210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박스 → 픽셀 단위 마스크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387705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④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194560" y="387705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Image 416 → 640 / AdamW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0080" y="413308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94560" y="4133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 (보도·차도·위험구역)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3891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194560" y="43891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surface_seg_v2 (YOLO11n-seg)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2697480"/>
            <a:ext cx="4023360" cy="19202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4663440" y="3108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🛣️ 학습 곡선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63440" y="3520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surface_seg_v2 results.png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320040"/>
            <a:ext cx="1554480" cy="4114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3" name="Text 41"/>
          <p:cNvSpPr/>
          <p:nvPr/>
        </p:nvSpPr>
        <p:spPr>
          <a:xfrm>
            <a:off x="7040880" y="3200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⭐ 최종 채택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서버 구현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+ PyTorch — 5개 엔드포인트 · ngrok HTTPS 자동 터널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468880" cy="3291840"/>
          </a:xfrm>
          <a:prstGeom prst="roundRect">
            <a:avLst>
              <a:gd name="adj" fmla="val 5556"/>
            </a:avLst>
          </a:prstGeom>
          <a:solidFill>
            <a:srgbClr val="141414"/>
          </a:solidFill>
          <a:ln w="25400">
            <a:solidFill>
              <a:srgbClr val="F97316"/>
            </a:solidFill>
            <a:prstDash val="solid"/>
          </a:ln>
        </p:spPr>
      </p:sp>
      <p:pic>
        <p:nvPicPr>
          <p:cNvPr id="5" name="Image 0" descr="C:/Users/User/Downloads/app_splash_r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228600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0" y="1399032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7" name="Text 4"/>
          <p:cNvSpPr/>
          <p:nvPr/>
        </p:nvSpPr>
        <p:spPr>
          <a:xfrm>
            <a:off x="3200400" y="1399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749040" y="1325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 객체 탐지 + 신호등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74904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사람·차·자전거·볼라드 + 신호등(HSV)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신호등은 3중 엄격 조건 (오탐 방지)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2039112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0" y="2039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749040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노면 세그멘테이션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49040" y="2212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클래스 · 좌/중/우 3구역 분석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 즉시 플래그 → POST /segment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0" y="2679192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2679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거리·접근속도 추정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749040" y="2852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Depth-Anything-V2 백그라운드 워커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250ms 넘으면 자동 OFF (응답속도 유지)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200400" y="3319272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3200400" y="33192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749040" y="3246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 최적화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749040" y="34930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MD5 프레임 캐싱 (2초) · half precision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LatencyTracker로 RTT/FPS 모니터링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00400" y="3959352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3" name="Text 20"/>
          <p:cNvSpPr/>
          <p:nvPr/>
        </p:nvSpPr>
        <p:spPr>
          <a:xfrm>
            <a:off x="3200400" y="3959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749040" y="3886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음성 어시스턴트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749040" y="41330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LangChain + Gemini 2.0 Flash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POST /assistant (다음 슬라이드)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LLM 음성 어시스턴트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1.5초 길게 누르면 활성화 · LangChain + Gemini 2.0 Flash · 한국어 STT/TTS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468880" cy="3291840"/>
          </a:xfrm>
          <a:prstGeom prst="roundRect">
            <a:avLst>
              <a:gd name="adj" fmla="val 5556"/>
            </a:avLst>
          </a:prstGeom>
          <a:solidFill>
            <a:srgbClr val="141414"/>
          </a:solidFill>
          <a:ln w="25400">
            <a:solidFill>
              <a:srgbClr val="F97316"/>
            </a:solidFill>
            <a:prstDash val="solid"/>
          </a:ln>
        </p:spPr>
      </p:sp>
      <p:pic>
        <p:nvPicPr>
          <p:cNvPr id="5" name="Image 0" descr="C:/Users/User/Downloads/app_splash_r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228600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0" y="1399032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7" name="Text 4"/>
          <p:cNvSpPr/>
          <p:nvPr/>
        </p:nvSpPr>
        <p:spPr>
          <a:xfrm>
            <a:off x="3200400" y="1399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749040" y="1325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내비게이션 음성 제어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74904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"강남역 가줘" → Tmap 검색·경로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"내비 그만" / "다시 길 찾아줘"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2048256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0" y="2048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749040" y="19751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객체 질의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49040" y="22219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"주변에 뭐 있어?"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카메라 YOLO 결과 음성으로 요약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0" y="2697480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2697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624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 진행 정보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749040" y="287121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"얼마나 남았어?" / "지금 어디야?"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잔여 거리·시간·GPS 좌표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200400" y="3346704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3200400" y="33467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749040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POI 검색 (Tmap)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749040" y="3520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"근처 화장실 찾아줘"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Tmap POI → 가장 가까운 곳 안내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00400" y="3995928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3" name="Text 20"/>
          <p:cNvSpPr/>
          <p:nvPr/>
        </p:nvSpPr>
        <p:spPr>
          <a:xfrm>
            <a:off x="3200400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749040" y="39227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Calling + 컨텍스트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749040" y="416966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Gemini가 화면·위치·탐지 객체 고려해 도구 선택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설정에서 사용자 토글 ON/OFF 가능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앱 소개 — 보행 안전 기능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 · 노면 · 신호등 실시간 경고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468880" cy="3291840"/>
          </a:xfrm>
          <a:prstGeom prst="roundRect">
            <a:avLst>
              <a:gd name="adj" fmla="val 5556"/>
            </a:avLst>
          </a:prstGeom>
          <a:solidFill>
            <a:srgbClr val="141414"/>
          </a:solidFill>
          <a:ln w="25400">
            <a:solidFill>
              <a:srgbClr val="F97316"/>
            </a:solidFill>
            <a:prstDash val="solid"/>
          </a:ln>
        </p:spPr>
      </p:sp>
      <p:pic>
        <p:nvPicPr>
          <p:cNvPr id="5" name="Image 0" descr="C:/Users/User/Downloads/app_detection_r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228600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0" y="1417320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7" name="Text 4"/>
          <p:cNvSpPr/>
          <p:nvPr/>
        </p:nvSpPr>
        <p:spPr>
          <a:xfrm>
            <a:off x="3200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794760" y="13258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방향별 음성 안내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794760" y="161848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왼쪽/정면/오른쪽 + 거리감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("매우 가까이" / "접근 중")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00400" y="2221992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794760" y="21305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방향별 진동 패턴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794760" y="24231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짧짧긴 · 정면 긴짧긴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긴짧짧으로 차별화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00400" y="3026664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3026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794760" y="2935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노면 색상 오버레이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794760" y="32278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초록(보도) · 빨강(차도)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주황(위험) · 노랑(횡단보도)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200400" y="3831336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320040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794760" y="373989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차도·계단·신호등 즉시 경고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3794760" y="403250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차도 진입 시 보도 이동 안내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 최우선 TTS · 신호등 색상 변화 경고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앱 소개 — 내비게이션 · 인터랙션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Tmap 도보 내비 + 음성 명령 + 접근성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468880" cy="3291840"/>
          </a:xfrm>
          <a:prstGeom prst="roundRect">
            <a:avLst>
              <a:gd name="adj" fmla="val 5556"/>
            </a:avLst>
          </a:prstGeom>
          <a:solidFill>
            <a:srgbClr val="141414"/>
          </a:solidFill>
          <a:ln w="25400">
            <a:solidFill>
              <a:srgbClr val="F97316"/>
            </a:solidFill>
            <a:prstDash val="solid"/>
          </a:ln>
        </p:spPr>
      </p:sp>
      <p:pic>
        <p:nvPicPr>
          <p:cNvPr id="5" name="Image 0" descr="C:/Users/User/Downloads/app_nav_r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228600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0" y="1399032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7" name="Text 4"/>
          <p:cNvSpPr/>
          <p:nvPr/>
        </p:nvSpPr>
        <p:spPr>
          <a:xfrm>
            <a:off x="3200400" y="1399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749040" y="1325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목적지 입력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74904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 버튼 → STT → Tmap POI 검색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2048256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0" y="2048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749040" y="19751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턴바이턴 + Heading-up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49040" y="22219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 전환·잔여거리·나침반 회전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0" y="2697480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2697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624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 이탈 자동 재탐색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749040" y="287121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40m 이상 벗어나면 새 경로 자동 계산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200400" y="3346704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3200400" y="33467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749040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명령 · 더블탭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749040" y="3520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"주변 알려줘" / 마지막 경고 재발화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00400" y="3995928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3" name="Text 20"/>
          <p:cNvSpPr/>
          <p:nvPr/>
        </p:nvSpPr>
        <p:spPr>
          <a:xfrm>
            <a:off x="3200400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749040" y="39227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설정 + 실험 기능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749040" y="416966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TTS 속도·민감도·쿨다운·내비 거리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LLM·신호등 ON/OFF 토글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시연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5가지 시나리오로 실제 보행 환경에서 SafeStep 테스트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02920" cy="50292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많은 거리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객체 동시 감지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502920" cy="50292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97280" y="2011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차+사람 골목길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2286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 환경 · 접근속도 계산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97280" y="26517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신호등 + 횡단보도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HSV 색상 감지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502920" cy="50292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97280" y="32918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차도 진입 반응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5661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노면 인식 + 즉시 경고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97280" y="3931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계단·맨홀 (주의구역)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97280" y="4206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 위험물 · 최우선 TTS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0" y="1371600"/>
            <a:ext cx="3657600" cy="3291840"/>
          </a:xfrm>
          <a:prstGeom prst="roundRect">
            <a:avLst>
              <a:gd name="adj" fmla="val 2778"/>
            </a:avLst>
          </a:prstGeom>
          <a:solidFill>
            <a:srgbClr val="141414"/>
          </a:solidFill>
          <a:ln w="25400">
            <a:solidFill>
              <a:srgbClr val="F97316"/>
            </a:solidFill>
            <a:prstDash val="solid"/>
          </a:ln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120640" y="1463040"/>
            <a:ext cx="3474720" cy="310896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/ 19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평가 — 모델 성능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운영 성능 + 혼동 행렬 분석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920240" cy="10058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192024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533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[XXX] ms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7647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End-to-end 지연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→ TTS 발화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280160"/>
            <a:ext cx="1920240" cy="10058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1280160"/>
            <a:ext cx="192024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13533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[XX] ms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60320" y="17647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처리 시간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6032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/detect 평균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1280160"/>
            <a:ext cx="1920240" cy="10058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280160"/>
            <a:ext cx="19202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3533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[XX] FPS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17647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속도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6344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프레임/초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66560" y="1280160"/>
            <a:ext cx="1920240" cy="10058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1280160"/>
            <a:ext cx="192024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13533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[XX] %/h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766560" y="17647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 소모율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사용 기준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423160"/>
            <a:ext cx="4114800" cy="224028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 탐지 — Confusion Matrix</a:t>
            </a:r>
            <a:endParaRPr lang="en-US" sz="1200" dirty="0"/>
          </a:p>
        </p:txBody>
      </p:sp>
      <p:pic>
        <p:nvPicPr>
          <p:cNvPr id="26" name="Image 0" descr="C:/Users/User/Downloads/confusion_matrix_obj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788920"/>
            <a:ext cx="3931920" cy="18288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663440" y="2423160"/>
            <a:ext cx="4023360" cy="224028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dash"/>
          </a:ln>
        </p:spPr>
      </p:sp>
      <p:sp>
        <p:nvSpPr>
          <p:cNvPr id="28" name="Text 25"/>
          <p:cNvSpPr/>
          <p:nvPr/>
        </p:nvSpPr>
        <p:spPr>
          <a:xfrm>
            <a:off x="4663440" y="2468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노면 세그 — Confusion Matrix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663440" y="3337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surface_seg_v2/confusion_matrix.png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19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평가 — 시연 시나리오별 분석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슬라이드 영상에서 5가지 시나리오 각각의 성능 측정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4114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13716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17520" y="1371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감지 성공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80560" y="1371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0" y="1371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안내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80960" y="13716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17830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많은 거리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1783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[X/X]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09160" y="1901952"/>
            <a:ext cx="731520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901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방향별 음성 안내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680960" y="17830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[A]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8229600" cy="5029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37744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22860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차+사람 골목길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22860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[X/X]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09160" y="2404872"/>
            <a:ext cx="731520" cy="2743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24048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접근속도 경고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80960" y="22860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[A]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288036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60120" y="27889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신호등 + 횡단보도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017520" y="27889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[X/X]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09160" y="2907792"/>
            <a:ext cx="731520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3" name="Text 31"/>
          <p:cNvSpPr/>
          <p:nvPr/>
        </p:nvSpPr>
        <p:spPr>
          <a:xfrm>
            <a:off x="4709160" y="2907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0" y="27889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색상 안내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680960" y="27889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[A]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338328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60120" y="32918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차도 진입 반응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01752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[X/X]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709160" y="3410712"/>
            <a:ext cx="731520" cy="2743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2" name="Text 40"/>
          <p:cNvSpPr/>
          <p:nvPr/>
        </p:nvSpPr>
        <p:spPr>
          <a:xfrm>
            <a:off x="4709160" y="34107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69280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경고 ⚡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680960" y="329184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[A]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548640" y="388620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46" name="Text 44"/>
          <p:cNvSpPr/>
          <p:nvPr/>
        </p:nvSpPr>
        <p:spPr>
          <a:xfrm>
            <a:off x="54864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60120" y="3794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계단·맨홀 (주의구역)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3017520" y="37947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[X/X]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709160" y="3913632"/>
            <a:ext cx="731520" cy="2743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0" name="Text 48"/>
          <p:cNvSpPr/>
          <p:nvPr/>
        </p:nvSpPr>
        <p:spPr>
          <a:xfrm>
            <a:off x="4709160" y="3913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0" y="3794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최우선 TTS 발화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680960" y="379476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[B]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44348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2286000" y="4434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[총 정확도 XX%]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846320" y="44348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[위험 시나리오 무사 처리 X/X]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7772400" y="44348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[종합 등급]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한계 및 향후 과제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38328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현재 한계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의존 구조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네트워크 끊기면 객체 탐지 불가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 지연 (RTT)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LTE/Wi-Fi 환경에 따라 응답 시간 편차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 0.58 — 미탐지 가능성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안전 관련 앱이라 더 높여야 함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신호등 인식률 낮음 (기본 OFF)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yolov8n COCO 한국 신호등 미학습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사용자 설정 토글로 선택적 활성화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3832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7" name="Shape 5"/>
          <p:cNvSpPr/>
          <p:nvPr/>
        </p:nvSpPr>
        <p:spPr>
          <a:xfrm>
            <a:off x="4663440" y="1188720"/>
            <a:ext cx="73152" cy="33832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향후 과제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691640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온디바이스화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TFLite/PyTorch Mobile로 서버 의존 제거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신호등 데이터 추가 학습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수직형 신호등·화살표 신호 대응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모델 시험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YOLO11s/m으로 Recall 향상 검증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피드백 반영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실제 시각장애인 대상 사용성 테스트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5544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 &amp; A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질문해 주세요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SafeStep</dc:title>
  <dc:subject>PptxGenJS Presentation</dc:subject>
  <dc:creator>VisionGuide Team</dc:creator>
  <cp:lastModifiedBy>VisionGuide Team</cp:lastModifiedBy>
  <cp:revision>1</cp:revision>
  <dcterms:created xsi:type="dcterms:W3CDTF">2026-05-13T06:05:28Z</dcterms:created>
  <dcterms:modified xsi:type="dcterms:W3CDTF">2026-05-13T06:05:28Z</dcterms:modified>
</cp:coreProperties>
</file>